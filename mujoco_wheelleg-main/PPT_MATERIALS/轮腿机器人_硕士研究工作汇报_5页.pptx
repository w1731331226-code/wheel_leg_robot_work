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1D17FFD-F245-4A3D-A335-BF77AF1A01C6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432000" y="432000"/>
            <a:ext cx="10800000" cy="25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[Sources]</a:t>
            </a:r>
            <a:endParaRPr b="0" lang="en-US" sz="1200" spc="-1" strike="noStrike">
              <a:latin typeface="Noto Sans CJK SC"/>
            </a:endParaRPr>
          </a:p>
          <a:p>
            <a:r>
              <a:rPr b="0" lang="en-US" sz="1200" spc="-1" strike="noStrike">
                <a:latin typeface="Noto Sans CJK SC"/>
              </a:rPr>
              <a:t>- </a:t>
            </a:r>
            <a:r>
              <a:rPr b="0" lang="zh-CN" sz="1200" spc="-1" strike="noStrike">
                <a:latin typeface="Noto Sans CJK SC"/>
              </a:rPr>
              <a:t>项目模型：</a:t>
            </a:r>
            <a:r>
              <a:rPr b="0" lang="en-US" sz="1200" spc="-1" strike="noStrike">
                <a:latin typeface="Noto Sans CJK SC"/>
              </a:rPr>
              <a:t>xml/wheelleg.xml</a:t>
            </a:r>
            <a:endParaRPr b="0" lang="en-US" sz="1200" spc="-1" strike="noStrike">
              <a:latin typeface="Noto Sans CJK SC"/>
            </a:endParaRPr>
          </a:p>
          <a:p>
            <a:r>
              <a:rPr b="0" lang="en-US" sz="1200" spc="-1" strike="noStrike">
                <a:latin typeface="Noto Sans CJK SC"/>
              </a:rPr>
              <a:t>- </a:t>
            </a:r>
            <a:r>
              <a:rPr b="0" lang="zh-CN" sz="1200" spc="-1" strike="noStrike">
                <a:latin typeface="Noto Sans CJK SC"/>
              </a:rPr>
              <a:t>图像：</a:t>
            </a:r>
            <a:r>
              <a:rPr b="0" lang="en-US" sz="1200" spc="-1" strike="noStrike">
                <a:latin typeface="Noto Sans CJK SC"/>
              </a:rPr>
              <a:t>PPT_MATERIALS/images/01_robot_overview.png</a:t>
            </a:r>
            <a:r>
              <a:rPr b="0" lang="zh-CN" sz="1200" spc="-1" strike="noStrike">
                <a:latin typeface="Noto Sans CJK SC"/>
              </a:rPr>
              <a:t>（本项目渲染）</a:t>
            </a:r>
            <a:endParaRPr b="0" lang="en-US" sz="1200" spc="-1" strike="noStrike">
              <a:latin typeface="Noto Sans CJK SC"/>
            </a:endParaRPr>
          </a:p>
          <a:p>
            <a:r>
              <a:rPr b="0" lang="en-US" sz="1200" spc="-1" strike="noStrike">
                <a:latin typeface="Noto Sans CJK SC"/>
              </a:rPr>
              <a:t>[/Sources]</a:t>
            </a:r>
            <a:endParaRPr b="0" lang="en-US" sz="1200" spc="-1" strike="noStrike">
              <a:latin typeface="Noto Sans CJK SC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432000" y="432000"/>
            <a:ext cx="10800000" cy="25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[Sources]</a:t>
            </a:r>
            <a:endParaRPr b="0" lang="en-US" sz="1200" spc="-1" strike="noStrike">
              <a:latin typeface="Noto Sans CJK SC"/>
            </a:endParaRPr>
          </a:p>
          <a:p>
            <a:r>
              <a:rPr b="0" lang="en-US" sz="1200" spc="-1" strike="noStrike">
                <a:latin typeface="Noto Sans CJK SC"/>
              </a:rPr>
              <a:t>- </a:t>
            </a:r>
            <a:r>
              <a:rPr b="0" lang="zh-CN" sz="1200" spc="-1" strike="noStrike">
                <a:latin typeface="Noto Sans CJK SC"/>
              </a:rPr>
              <a:t>主控制器：</a:t>
            </a:r>
            <a:r>
              <a:rPr b="0" lang="en-US" sz="1200" spc="-1" strike="noStrike">
                <a:latin typeface="Noto Sans CJK SC"/>
              </a:rPr>
              <a:t>tools/wheelleg_sim.py</a:t>
            </a:r>
            <a:endParaRPr b="0" lang="en-US" sz="1200" spc="-1" strike="noStrike">
              <a:latin typeface="Noto Sans CJK SC"/>
            </a:endParaRPr>
          </a:p>
          <a:p>
            <a:r>
              <a:rPr b="0" lang="en-US" sz="1200" spc="-1" strike="noStrike">
                <a:latin typeface="Noto Sans CJK SC"/>
              </a:rPr>
              <a:t>- </a:t>
            </a:r>
            <a:r>
              <a:rPr b="0" lang="zh-CN" sz="1200" spc="-1" strike="noStrike">
                <a:latin typeface="Noto Sans CJK SC"/>
              </a:rPr>
              <a:t>路线与状态：</a:t>
            </a:r>
            <a:r>
              <a:rPr b="0" lang="en-US" sz="1200" spc="-1" strike="noStrike">
                <a:latin typeface="Noto Sans CJK SC"/>
              </a:rPr>
              <a:t>TECHNICAL_ROADMAP.md</a:t>
            </a:r>
            <a:endParaRPr b="0" lang="en-US" sz="1200" spc="-1" strike="noStrike">
              <a:latin typeface="Noto Sans CJK SC"/>
            </a:endParaRPr>
          </a:p>
          <a:p>
            <a:r>
              <a:rPr b="0" lang="en-US" sz="1200" spc="-1" strike="noStrike">
                <a:latin typeface="Noto Sans CJK SC"/>
              </a:rPr>
              <a:t>- </a:t>
            </a:r>
            <a:r>
              <a:rPr b="0" lang="zh-CN" sz="1200" spc="-1" strike="noStrike">
                <a:latin typeface="Noto Sans CJK SC"/>
              </a:rPr>
              <a:t>测试入口：</a:t>
            </a:r>
            <a:r>
              <a:rPr b="0" lang="en-US" sz="1200" spc="-1" strike="noStrike">
                <a:latin typeface="Noto Sans CJK SC"/>
              </a:rPr>
              <a:t>tools/test_jump_stress.py</a:t>
            </a:r>
            <a:r>
              <a:rPr b="0" lang="zh-CN" sz="1200" spc="-1" strike="noStrike">
                <a:latin typeface="Noto Sans CJK SC"/>
              </a:rPr>
              <a:t>、</a:t>
            </a:r>
            <a:r>
              <a:rPr b="0" lang="en-US" sz="1200" spc="-1" strike="noStrike">
                <a:latin typeface="Noto Sans CJK SC"/>
              </a:rPr>
              <a:t>tools/test_robustness.py</a:t>
            </a:r>
            <a:endParaRPr b="0" lang="en-US" sz="1200" spc="-1" strike="noStrike">
              <a:latin typeface="Noto Sans CJK SC"/>
            </a:endParaRPr>
          </a:p>
          <a:p>
            <a:r>
              <a:rPr b="0" lang="en-US" sz="1200" spc="-1" strike="noStrike">
                <a:latin typeface="Noto Sans CJK SC"/>
              </a:rPr>
              <a:t>[/Sources]</a:t>
            </a:r>
            <a:endParaRPr b="0" lang="en-US" sz="1200" spc="-1" strike="noStrike">
              <a:latin typeface="Noto Sans CJK SC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432000" y="432000"/>
            <a:ext cx="10800000" cy="25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[Sources]</a:t>
            </a:r>
            <a:endParaRPr b="0" lang="en-US" sz="1200" spc="-1" strike="noStrike">
              <a:latin typeface="Noto Sans CJK SC"/>
            </a:endParaRPr>
          </a:p>
          <a:p>
            <a:r>
              <a:rPr b="0" lang="en-US" sz="1200" spc="-1" strike="noStrike">
                <a:latin typeface="Noto Sans CJK SC"/>
              </a:rPr>
              <a:t>- </a:t>
            </a:r>
            <a:r>
              <a:rPr b="0" lang="zh-CN" sz="1200" spc="-1" strike="noStrike">
                <a:latin typeface="Noto Sans CJK SC"/>
              </a:rPr>
              <a:t>当前复验数据：</a:t>
            </a:r>
            <a:r>
              <a:rPr b="0" lang="en-US" sz="1200" spc="-1" strike="noStrike">
                <a:latin typeface="Noto Sans CJK SC"/>
              </a:rPr>
              <a:t>PPT_MATERIALS/data/core_results.csv</a:t>
            </a:r>
            <a:endParaRPr b="0" lang="en-US" sz="1200" spc="-1" strike="noStrike">
              <a:latin typeface="Noto Sans CJK SC"/>
            </a:endParaRPr>
          </a:p>
          <a:p>
            <a:r>
              <a:rPr b="0" lang="en-US" sz="1200" spc="-1" strike="noStrike">
                <a:latin typeface="Noto Sans CJK SC"/>
              </a:rPr>
              <a:t>- </a:t>
            </a:r>
            <a:r>
              <a:rPr b="0" lang="zh-CN" sz="1200" spc="-1" strike="noStrike">
                <a:latin typeface="Noto Sans CJK SC"/>
              </a:rPr>
              <a:t>执行入口：</a:t>
            </a:r>
            <a:r>
              <a:rPr b="0" lang="en-US" sz="1200" spc="-1" strike="noStrike">
                <a:latin typeface="Noto Sans CJK SC"/>
              </a:rPr>
              <a:t>tools/wheelleg_sim.py --test stand/stop/jump/jumpfwd/jumpback</a:t>
            </a:r>
            <a:endParaRPr b="0" lang="en-US" sz="1200" spc="-1" strike="noStrike">
              <a:latin typeface="Noto Sans CJK SC"/>
            </a:endParaRPr>
          </a:p>
          <a:p>
            <a:r>
              <a:rPr b="0" lang="en-US" sz="1200" spc="-1" strike="noStrike">
                <a:latin typeface="Noto Sans CJK SC"/>
              </a:rPr>
              <a:t>[/Sources]</a:t>
            </a:r>
            <a:endParaRPr b="0" lang="en-US" sz="1200" spc="-1" strike="noStrike">
              <a:latin typeface="Noto Sans CJK SC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432000" y="432000"/>
            <a:ext cx="10800000" cy="25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[Sources]</a:t>
            </a:r>
            <a:endParaRPr b="0" lang="en-US" sz="1200" spc="-1" strike="noStrike">
              <a:latin typeface="Noto Sans CJK SC"/>
            </a:endParaRPr>
          </a:p>
          <a:p>
            <a:r>
              <a:rPr b="0" lang="en-US" sz="1200" spc="-1" strike="noStrike">
                <a:latin typeface="Noto Sans CJK SC"/>
              </a:rPr>
              <a:t>- </a:t>
            </a:r>
            <a:r>
              <a:rPr b="0" lang="zh-CN" sz="1200" spc="-1" strike="noStrike">
                <a:latin typeface="Noto Sans CJK SC"/>
              </a:rPr>
              <a:t>连续跳当前复验：</a:t>
            </a:r>
            <a:r>
              <a:rPr b="0" lang="en-US" sz="1200" spc="-1" strike="noStrike">
                <a:latin typeface="Noto Sans CJK SC"/>
              </a:rPr>
              <a:t>PPT_MATERIALS/data/repeated_jump_results.csv</a:t>
            </a:r>
            <a:endParaRPr b="0" lang="en-US" sz="1200" spc="-1" strike="noStrike">
              <a:latin typeface="Noto Sans CJK SC"/>
            </a:endParaRPr>
          </a:p>
          <a:p>
            <a:r>
              <a:rPr b="0" lang="en-US" sz="1200" spc="-1" strike="noStrike">
                <a:latin typeface="Noto Sans CJK SC"/>
              </a:rPr>
              <a:t>- </a:t>
            </a:r>
            <a:r>
              <a:rPr b="0" lang="zh-CN" sz="1200" spc="-1" strike="noStrike">
                <a:latin typeface="Noto Sans CJK SC"/>
              </a:rPr>
              <a:t>抗扰当前复验：</a:t>
            </a:r>
            <a:r>
              <a:rPr b="0" lang="en-US" sz="1200" spc="-1" strike="noStrike">
                <a:latin typeface="Noto Sans CJK SC"/>
              </a:rPr>
              <a:t>PPT_MATERIALS/data/robustness_results.csv</a:t>
            </a:r>
            <a:endParaRPr b="0" lang="en-US" sz="1200" spc="-1" strike="noStrike">
              <a:latin typeface="Noto Sans CJK SC"/>
            </a:endParaRPr>
          </a:p>
          <a:p>
            <a:r>
              <a:rPr b="0" lang="en-US" sz="1200" spc="-1" strike="noStrike">
                <a:latin typeface="Noto Sans CJK SC"/>
              </a:rPr>
              <a:t>- </a:t>
            </a:r>
            <a:r>
              <a:rPr b="0" lang="zh-CN" sz="1200" spc="-1" strike="noStrike">
                <a:latin typeface="Noto Sans CJK SC"/>
              </a:rPr>
              <a:t>扰动实现：</a:t>
            </a:r>
            <a:r>
              <a:rPr b="0" lang="en-US" sz="1200" spc="-1" strike="noStrike">
                <a:latin typeface="Noto Sans CJK SC"/>
              </a:rPr>
              <a:t>tools/test_jump_stress.py</a:t>
            </a:r>
            <a:r>
              <a:rPr b="0" lang="zh-CN" sz="1200" spc="-1" strike="noStrike">
                <a:latin typeface="Noto Sans CJK SC"/>
              </a:rPr>
              <a:t>、</a:t>
            </a:r>
            <a:r>
              <a:rPr b="0" lang="en-US" sz="1200" spc="-1" strike="noStrike">
                <a:latin typeface="Noto Sans CJK SC"/>
              </a:rPr>
              <a:t>tools/test_robustness.py</a:t>
            </a:r>
            <a:endParaRPr b="0" lang="en-US" sz="1200" spc="-1" strike="noStrike">
              <a:latin typeface="Noto Sans CJK SC"/>
            </a:endParaRPr>
          </a:p>
          <a:p>
            <a:r>
              <a:rPr b="0" lang="en-US" sz="1200" spc="-1" strike="noStrike">
                <a:latin typeface="Noto Sans CJK SC"/>
              </a:rPr>
              <a:t>[/Sources]</a:t>
            </a:r>
            <a:endParaRPr b="0" lang="en-US" sz="1200" spc="-1" strike="noStrike">
              <a:latin typeface="Noto Sans CJK SC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432000" y="432000"/>
            <a:ext cx="10800000" cy="25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[Sources]</a:t>
            </a:r>
            <a:endParaRPr b="0" lang="en-US" sz="1200" spc="-1" strike="noStrike">
              <a:latin typeface="Noto Sans CJK SC"/>
            </a:endParaRPr>
          </a:p>
          <a:p>
            <a:r>
              <a:rPr b="0" lang="en-US" sz="1200" spc="-1" strike="noStrike">
                <a:latin typeface="Noto Sans CJK SC"/>
              </a:rPr>
              <a:t>- </a:t>
            </a:r>
            <a:r>
              <a:rPr b="0" lang="zh-CN" sz="1200" spc="-1" strike="noStrike">
                <a:latin typeface="Noto Sans CJK SC"/>
              </a:rPr>
              <a:t>硬件名义核算：</a:t>
            </a:r>
            <a:r>
              <a:rPr b="0" lang="en-US" sz="1200" spc="-1" strike="noStrike">
                <a:latin typeface="Noto Sans CJK SC"/>
              </a:rPr>
              <a:t>HARDWARE_SELECTION_2026-09-02.md</a:t>
            </a:r>
            <a:endParaRPr b="0" lang="en-US" sz="1200" spc="-1" strike="noStrike">
              <a:latin typeface="Noto Sans CJK SC"/>
            </a:endParaRPr>
          </a:p>
          <a:p>
            <a:r>
              <a:rPr b="0" lang="en-US" sz="1200" spc="-1" strike="noStrike">
                <a:latin typeface="Noto Sans CJK SC"/>
              </a:rPr>
              <a:t>- </a:t>
            </a:r>
            <a:r>
              <a:rPr b="0" lang="zh-CN" sz="1200" spc="-1" strike="noStrike">
                <a:latin typeface="Noto Sans CJK SC"/>
              </a:rPr>
              <a:t>硬件数据：</a:t>
            </a:r>
            <a:r>
              <a:rPr b="0" lang="en-US" sz="1200" spc="-1" strike="noStrike">
                <a:latin typeface="Noto Sans CJK SC"/>
              </a:rPr>
              <a:t>PPT_MATERIALS/data/hardware_nominal_budget.csv</a:t>
            </a:r>
            <a:endParaRPr b="0" lang="en-US" sz="1200" spc="-1" strike="noStrike">
              <a:latin typeface="Noto Sans CJK SC"/>
            </a:endParaRPr>
          </a:p>
          <a:p>
            <a:r>
              <a:rPr b="0" lang="en-US" sz="1200" spc="-1" strike="noStrike">
                <a:latin typeface="Noto Sans CJK SC"/>
              </a:rPr>
              <a:t>- </a:t>
            </a:r>
            <a:r>
              <a:rPr b="0" lang="zh-CN" sz="1200" spc="-1" strike="noStrike">
                <a:latin typeface="Noto Sans CJK SC"/>
              </a:rPr>
              <a:t>状态边界：</a:t>
            </a:r>
            <a:r>
              <a:rPr b="0" lang="en-US" sz="1200" spc="-1" strike="noStrike">
                <a:latin typeface="Noto Sans CJK SC"/>
              </a:rPr>
              <a:t>WORK_HANDOFF_2026-08-31.md </a:t>
            </a:r>
            <a:r>
              <a:rPr b="0" lang="zh-CN" sz="1200" spc="-1" strike="noStrike">
                <a:latin typeface="Noto Sans CJK SC"/>
              </a:rPr>
              <a:t>第 </a:t>
            </a:r>
            <a:r>
              <a:rPr b="0" lang="en-US" sz="1200" spc="-1" strike="noStrike">
                <a:latin typeface="Noto Sans CJK SC"/>
              </a:rPr>
              <a:t>0 </a:t>
            </a:r>
            <a:r>
              <a:rPr b="0" lang="zh-CN" sz="1200" spc="-1" strike="noStrike">
                <a:latin typeface="Noto Sans CJK SC"/>
              </a:rPr>
              <a:t>节</a:t>
            </a:r>
            <a:endParaRPr b="0" lang="en-US" sz="1200" spc="-1" strike="noStrike">
              <a:latin typeface="Noto Sans CJK SC"/>
            </a:endParaRPr>
          </a:p>
          <a:p>
            <a:r>
              <a:rPr b="0" lang="en-US" sz="1200" spc="-1" strike="noStrike">
                <a:latin typeface="Noto Sans CJK SC"/>
              </a:rPr>
              <a:t>[/Sources]</a:t>
            </a:r>
            <a:endParaRPr b="0" lang="en-US" sz="1200" spc="-1" strike="noStrike">
              <a:latin typeface="Noto Sans CJK SC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D94D16-35E6-429D-8B17-D136A8B8AD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C547B8-248C-4E45-B8E8-2DBFEF1355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4FFE6B-1E40-4DC6-99E8-0F448FE8E0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A4BF78-FBCD-4906-BC4A-D6513D363EF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DA8278-F582-46FE-900A-593CBCDCDA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3A442A-0CDB-45EE-AC0C-3F49323971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A33308-4E20-45D4-A7D8-221CDCE9FC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404372-3D90-4B43-9D29-D799BF74AE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944AB4-2A02-4B9E-BD49-20E8980C27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369BBD-2A59-4616-A514-0928DCC61E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E79D87-FC29-47DB-916B-07219F3453F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0466D7-5270-4FD5-B2A0-73B3117D508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4DA2C88-496A-4032-B8F2-4292EA8B555D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396000" y="324000"/>
            <a:ext cx="540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500" spc="-1" strike="noStrike">
                <a:solidFill>
                  <a:srgbClr val="3d8dff"/>
                </a:solidFill>
                <a:latin typeface="Noto Sans CJK SC"/>
              </a:rPr>
              <a:t>博士申请交流 </a:t>
            </a:r>
            <a:r>
              <a:rPr b="1" lang="en-US" sz="1500" spc="-1" strike="noStrike">
                <a:solidFill>
                  <a:srgbClr val="3d8dff"/>
                </a:solidFill>
                <a:latin typeface="Noto Sans CJK SC"/>
              </a:rPr>
              <a:t>· </a:t>
            </a:r>
            <a:r>
              <a:rPr b="1" lang="zh-CN" sz="1500" spc="-1" strike="noStrike">
                <a:solidFill>
                  <a:srgbClr val="3d8dff"/>
                </a:solidFill>
                <a:latin typeface="Noto Sans CJK SC"/>
              </a:rPr>
              <a:t>硕士阶段研究工作</a:t>
            </a:r>
            <a:endParaRPr b="1" lang="en-US" sz="1500" spc="-1" strike="noStrike">
              <a:solidFill>
                <a:srgbClr val="3d8dff"/>
              </a:solidFill>
              <a:latin typeface="Noto Sans CJK SC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396000" y="1224000"/>
            <a:ext cx="5508000" cy="140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5200" spc="-1" strike="noStrike">
                <a:solidFill>
                  <a:srgbClr val="111827"/>
                </a:solidFill>
                <a:latin typeface="Noto Sans CJK SC"/>
              </a:rPr>
              <a:t>轮腿机器人</a:t>
            </a:r>
            <a:endParaRPr b="1" lang="en-US" sz="5200" spc="-1" strike="noStrike">
              <a:solidFill>
                <a:srgbClr val="111827"/>
              </a:solidFill>
              <a:latin typeface="Noto Sans CJK SC"/>
            </a:endParaRPr>
          </a:p>
          <a:p>
            <a:r>
              <a:rPr b="1" lang="zh-CN" sz="5200" spc="-1" strike="noStrike">
                <a:solidFill>
                  <a:srgbClr val="111827"/>
                </a:solidFill>
                <a:latin typeface="Noto Sans CJK SC"/>
              </a:rPr>
              <a:t>动态控制研究</a:t>
            </a:r>
            <a:endParaRPr b="1" lang="en-US" sz="5200" spc="-1" strike="noStrike">
              <a:solidFill>
                <a:srgbClr val="111827"/>
              </a:solidFill>
              <a:latin typeface="Noto Sans CJK SC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396000" y="2808000"/>
            <a:ext cx="52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2400" spc="-1" strike="noStrike">
                <a:solidFill>
                  <a:srgbClr val="556274"/>
                </a:solidFill>
                <a:latin typeface="Noto Sans CJK SC"/>
              </a:rPr>
              <a:t>研究方法与阶段成果</a:t>
            </a:r>
            <a:endParaRPr b="0" lang="en-US" sz="2400" spc="-1" strike="noStrike">
              <a:solidFill>
                <a:srgbClr val="556274"/>
              </a:solidFill>
              <a:latin typeface="Noto Sans CJK SC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396000" y="5544000"/>
            <a:ext cx="540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556274"/>
                </a:solidFill>
                <a:latin typeface="Noto Sans CJK SC"/>
              </a:rPr>
              <a:t>汇报人：</a:t>
            </a:r>
            <a:r>
              <a:rPr b="0" lang="en-US" sz="1800" spc="-1" strike="noStrike">
                <a:solidFill>
                  <a:srgbClr val="556274"/>
                </a:solidFill>
                <a:latin typeface="Noto Sans CJK SC"/>
              </a:rPr>
              <a:t>[</a:t>
            </a:r>
            <a:r>
              <a:rPr b="0" lang="zh-CN" sz="1800" spc="-1" strike="noStrike">
                <a:solidFill>
                  <a:srgbClr val="556274"/>
                </a:solidFill>
                <a:latin typeface="Noto Sans CJK SC"/>
              </a:rPr>
              <a:t>姓名</a:t>
            </a:r>
            <a:r>
              <a:rPr b="0" lang="en-US" sz="1800" spc="-1" strike="noStrike">
                <a:solidFill>
                  <a:srgbClr val="556274"/>
                </a:solidFill>
                <a:latin typeface="Noto Sans CJK SC"/>
              </a:rPr>
              <a:t>]   [</a:t>
            </a:r>
            <a:r>
              <a:rPr b="0" lang="zh-CN" sz="1800" spc="-1" strike="noStrike">
                <a:solidFill>
                  <a:srgbClr val="556274"/>
                </a:solidFill>
                <a:latin typeface="Noto Sans CJK SC"/>
              </a:rPr>
              <a:t>学校 </a:t>
            </a:r>
            <a:r>
              <a:rPr b="0" lang="en-US" sz="1800" spc="-1" strike="noStrike">
                <a:solidFill>
                  <a:srgbClr val="556274"/>
                </a:solidFill>
                <a:latin typeface="Noto Sans CJK SC"/>
              </a:rPr>
              <a:t>/ </a:t>
            </a:r>
            <a:r>
              <a:rPr b="0" lang="zh-CN" sz="1800" spc="-1" strike="noStrike">
                <a:solidFill>
                  <a:srgbClr val="556274"/>
                </a:solidFill>
                <a:latin typeface="Noto Sans CJK SC"/>
              </a:rPr>
              <a:t>学院</a:t>
            </a:r>
            <a:r>
              <a:rPr b="0" lang="en-US" sz="1800" spc="-1" strike="noStrike">
                <a:solidFill>
                  <a:srgbClr val="556274"/>
                </a:solidFill>
                <a:latin typeface="Noto Sans CJK SC"/>
              </a:rPr>
              <a:t>]</a:t>
            </a:r>
            <a:endParaRPr b="0" lang="en-US" sz="1800" spc="-1" strike="noStrike">
              <a:solidFill>
                <a:srgbClr val="556274"/>
              </a:solidFill>
              <a:latin typeface="Noto Sans CJK SC"/>
            </a:endParaRPr>
          </a:p>
        </p:txBody>
      </p:sp>
      <p:sp>
        <p:nvSpPr>
          <p:cNvPr id="51" name=""/>
          <p:cNvSpPr/>
          <p:nvPr/>
        </p:nvSpPr>
        <p:spPr>
          <a:xfrm>
            <a:off x="6501600" y="885600"/>
            <a:ext cx="5248800" cy="2964960"/>
          </a:xfrm>
          <a:prstGeom prst="rect">
            <a:avLst/>
          </a:prstGeom>
          <a:solidFill>
            <a:srgbClr val="ffffff"/>
          </a:solidFill>
          <a:ln w="6480">
            <a:solidFill>
              <a:srgbClr val="b8bcc4"/>
            </a:solidFill>
            <a:round/>
          </a:ln>
        </p:spPr>
      </p:sp>
      <p:pic>
        <p:nvPicPr>
          <p:cNvPr id="52" name="" descr="MuJoCo 五连杆轮腿机器人模型"/>
          <p:cNvPicPr/>
          <p:nvPr/>
        </p:nvPicPr>
        <p:blipFill>
          <a:blip r:embed="rId1"/>
          <a:stretch/>
        </p:blipFill>
        <p:spPr>
          <a:xfrm>
            <a:off x="6516000" y="900000"/>
            <a:ext cx="5220000" cy="2936160"/>
          </a:xfrm>
          <a:prstGeom prst="rect">
            <a:avLst/>
          </a:prstGeom>
          <a:ln w="0">
            <a:noFill/>
          </a:ln>
        </p:spPr>
      </p:pic>
      <p:sp>
        <p:nvSpPr>
          <p:cNvPr id="53" name=""/>
          <p:cNvSpPr txBox="1"/>
          <p:nvPr/>
        </p:nvSpPr>
        <p:spPr>
          <a:xfrm>
            <a:off x="6516000" y="4338000"/>
            <a:ext cx="5220000" cy="54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500" spc="-1" strike="noStrike">
                <a:solidFill>
                  <a:srgbClr val="111827"/>
                </a:solidFill>
                <a:latin typeface="Noto Sans CJK SC"/>
              </a:rPr>
              <a:t>分层控制 </a:t>
            </a:r>
            <a:r>
              <a:rPr b="1" lang="en-US" sz="2500" spc="-1" strike="noStrike">
                <a:solidFill>
                  <a:srgbClr val="111827"/>
                </a:solidFill>
                <a:latin typeface="Noto Sans CJK SC"/>
              </a:rPr>
              <a:t>+ </a:t>
            </a:r>
            <a:r>
              <a:rPr b="1" lang="zh-CN" sz="2500" spc="-1" strike="noStrike">
                <a:solidFill>
                  <a:srgbClr val="111827"/>
                </a:solidFill>
                <a:latin typeface="Noto Sans CJK SC"/>
              </a:rPr>
              <a:t>动作状态机</a:t>
            </a:r>
            <a:endParaRPr b="1" lang="en-US" sz="2500" spc="-1" strike="noStrike">
              <a:solidFill>
                <a:srgbClr val="111827"/>
              </a:solidFill>
              <a:latin typeface="Noto Sans CJK SC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6516000" y="4752000"/>
            <a:ext cx="52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556274"/>
                </a:solidFill>
                <a:latin typeface="Noto Sans CJK SC"/>
              </a:rPr>
              <a:t>建模—控制—验证—硬件约束</a:t>
            </a:r>
            <a:endParaRPr b="0" lang="en-US" sz="1800" spc="-1" strike="noStrike">
              <a:solidFill>
                <a:srgbClr val="556274"/>
              </a:solidFill>
              <a:latin typeface="Noto Sans CJK SC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403200" y="6490800"/>
            <a:ext cx="558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100" spc="-1" strike="noStrike">
                <a:solidFill>
                  <a:srgbClr val="556274"/>
                </a:solidFill>
                <a:latin typeface="Noto Sans CJK SC"/>
              </a:rPr>
              <a:t>博士申请交流</a:t>
            </a:r>
            <a:endParaRPr b="0" lang="en-US" sz="1100" spc="-1" strike="noStrike">
              <a:solidFill>
                <a:srgbClr val="556274"/>
              </a:solidFill>
              <a:latin typeface="Noto Sans CJK SC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1448000" y="6490800"/>
            <a:ext cx="324000" cy="29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en-US" sz="1100" spc="-1" strike="noStrike">
                <a:solidFill>
                  <a:srgbClr val="556274"/>
                </a:solidFill>
                <a:latin typeface="Noto Sans CJK SC"/>
              </a:rPr>
              <a:t>1</a:t>
            </a:r>
            <a:endParaRPr b="0" lang="en-US" sz="1100" spc="-1" strike="noStrike">
              <a:solidFill>
                <a:srgbClr val="556274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 txBox="1"/>
          <p:nvPr/>
        </p:nvSpPr>
        <p:spPr>
          <a:xfrm>
            <a:off x="396000" y="306000"/>
            <a:ext cx="11376000" cy="63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600" spc="-1" strike="noStrike">
                <a:solidFill>
                  <a:srgbClr val="111827"/>
                </a:solidFill>
                <a:latin typeface="Noto Sans CJK SC"/>
              </a:rPr>
              <a:t>研究思路：可信建模、分层控制与压力验证</a:t>
            </a:r>
            <a:endParaRPr b="1" lang="en-US" sz="3600" spc="-1" strike="noStrike">
              <a:solidFill>
                <a:srgbClr val="111827"/>
              </a:solidFill>
              <a:latin typeface="Noto Sans CJK SC"/>
            </a:endParaRPr>
          </a:p>
        </p:txBody>
      </p:sp>
      <p:sp>
        <p:nvSpPr>
          <p:cNvPr id="58" name=""/>
          <p:cNvSpPr/>
          <p:nvPr/>
        </p:nvSpPr>
        <p:spPr>
          <a:xfrm>
            <a:off x="381600" y="1245600"/>
            <a:ext cx="4780800" cy="2701800"/>
          </a:xfrm>
          <a:prstGeom prst="rect">
            <a:avLst/>
          </a:prstGeom>
          <a:solidFill>
            <a:srgbClr val="ffffff"/>
          </a:solidFill>
          <a:ln w="6480">
            <a:solidFill>
              <a:srgbClr val="b8bcc4"/>
            </a:solidFill>
            <a:round/>
          </a:ln>
        </p:spPr>
      </p:sp>
      <p:pic>
        <p:nvPicPr>
          <p:cNvPr id="59" name="" descr="跳跃 PREP 阶段"/>
          <p:cNvPicPr/>
          <p:nvPr/>
        </p:nvPicPr>
        <p:blipFill>
          <a:blip r:embed="rId1"/>
          <a:stretch/>
        </p:blipFill>
        <p:spPr>
          <a:xfrm>
            <a:off x="396000" y="1260000"/>
            <a:ext cx="4752000" cy="2673000"/>
          </a:xfrm>
          <a:prstGeom prst="rect">
            <a:avLst/>
          </a:prstGeom>
          <a:ln w="0">
            <a:noFill/>
          </a:ln>
        </p:spPr>
      </p:pic>
      <p:sp>
        <p:nvSpPr>
          <p:cNvPr id="60" name=""/>
          <p:cNvSpPr/>
          <p:nvPr/>
        </p:nvSpPr>
        <p:spPr>
          <a:xfrm>
            <a:off x="5580000" y="1116000"/>
            <a:ext cx="6156000" cy="12240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61" name=""/>
          <p:cNvSpPr txBox="1"/>
          <p:nvPr/>
        </p:nvSpPr>
        <p:spPr>
          <a:xfrm>
            <a:off x="5832000" y="1267200"/>
            <a:ext cx="5580000" cy="53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400" spc="-1" strike="noStrike">
                <a:solidFill>
                  <a:srgbClr val="3d8dff"/>
                </a:solidFill>
                <a:latin typeface="Noto Sans CJK SC"/>
              </a:rPr>
              <a:t>01  </a:t>
            </a:r>
            <a:r>
              <a:rPr b="1" lang="zh-CN" sz="2400" spc="-1" strike="noStrike">
                <a:solidFill>
                  <a:srgbClr val="3d8dff"/>
                </a:solidFill>
                <a:latin typeface="Noto Sans CJK SC"/>
              </a:rPr>
              <a:t>动力学建模</a:t>
            </a:r>
            <a:endParaRPr b="1" lang="en-US" sz="2400" spc="-1" strike="noStrike">
              <a:solidFill>
                <a:srgbClr val="3d8dff"/>
              </a:solidFill>
              <a:latin typeface="Noto Sans CJK SC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832000" y="1576800"/>
            <a:ext cx="5544000" cy="108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111827"/>
                </a:solidFill>
                <a:latin typeface="Noto Sans CJK SC"/>
              </a:rPr>
              <a:t>建立车身—五连杆腿—轮端耦合模型</a:t>
            </a:r>
            <a:endParaRPr b="0" lang="en-US" sz="1800" spc="-1" strike="noStrike">
              <a:solidFill>
                <a:srgbClr val="111827"/>
              </a:solidFill>
              <a:latin typeface="Noto Sans CJK SC"/>
            </a:endParaRPr>
          </a:p>
          <a:p>
            <a:r>
              <a:rPr b="0" lang="zh-CN" sz="1800" spc="-1" strike="noStrike">
                <a:solidFill>
                  <a:srgbClr val="111827"/>
                </a:solidFill>
                <a:latin typeface="Noto Sans CJK SC"/>
              </a:rPr>
              <a:t>保留六执行器的力矩、转速和接触约束</a:t>
            </a:r>
            <a:endParaRPr b="0" lang="en-US" sz="1800" spc="-1" strike="noStrike">
              <a:solidFill>
                <a:srgbClr val="111827"/>
              </a:solidFill>
              <a:latin typeface="Noto Sans CJK SC"/>
            </a:endParaRPr>
          </a:p>
          <a:p>
            <a:r>
              <a:rPr b="0" lang="zh-CN" sz="1800" spc="-1" strike="noStrike">
                <a:solidFill>
                  <a:srgbClr val="111827"/>
                </a:solidFill>
                <a:latin typeface="Noto Sans CJK SC"/>
              </a:rPr>
              <a:t>用可实现的物理输入描述运动过程</a:t>
            </a:r>
            <a:endParaRPr b="0" lang="en-US" sz="1800" spc="-1" strike="noStrike">
              <a:solidFill>
                <a:srgbClr val="111827"/>
              </a:solidFill>
              <a:latin typeface="Noto Sans CJK SC"/>
            </a:endParaRPr>
          </a:p>
        </p:txBody>
      </p:sp>
      <p:sp>
        <p:nvSpPr>
          <p:cNvPr id="63" name=""/>
          <p:cNvSpPr/>
          <p:nvPr/>
        </p:nvSpPr>
        <p:spPr>
          <a:xfrm>
            <a:off x="5580000" y="2664000"/>
            <a:ext cx="6156000" cy="12240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64" name=""/>
          <p:cNvSpPr txBox="1"/>
          <p:nvPr/>
        </p:nvSpPr>
        <p:spPr>
          <a:xfrm>
            <a:off x="5832000" y="2815200"/>
            <a:ext cx="5580000" cy="53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400" spc="-1" strike="noStrike">
                <a:solidFill>
                  <a:srgbClr val="3d8dff"/>
                </a:solidFill>
                <a:latin typeface="Noto Sans CJK SC"/>
              </a:rPr>
              <a:t>02  </a:t>
            </a:r>
            <a:r>
              <a:rPr b="1" lang="zh-CN" sz="2400" spc="-1" strike="noStrike">
                <a:solidFill>
                  <a:srgbClr val="3d8dff"/>
                </a:solidFill>
                <a:latin typeface="Noto Sans CJK SC"/>
              </a:rPr>
              <a:t>分层控制</a:t>
            </a:r>
            <a:endParaRPr b="1" lang="en-US" sz="2400" spc="-1" strike="noStrike">
              <a:solidFill>
                <a:srgbClr val="3d8dff"/>
              </a:solidFill>
              <a:latin typeface="Noto Sans CJK SC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5832000" y="3124800"/>
            <a:ext cx="5544000" cy="108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111827"/>
                </a:solidFill>
                <a:latin typeface="Noto Sans CJK SC"/>
              </a:rPr>
              <a:t>LQR </a:t>
            </a:r>
            <a:r>
              <a:rPr b="0" lang="zh-CN" sz="1800" spc="-1" strike="noStrike">
                <a:solidFill>
                  <a:srgbClr val="111827"/>
                </a:solidFill>
                <a:latin typeface="Noto Sans CJK SC"/>
              </a:rPr>
              <a:t>调节车身姿态与速度</a:t>
            </a:r>
            <a:endParaRPr b="0" lang="en-US" sz="1800" spc="-1" strike="noStrike">
              <a:solidFill>
                <a:srgbClr val="111827"/>
              </a:solidFill>
              <a:latin typeface="Noto Sans CJK SC"/>
            </a:endParaRPr>
          </a:p>
          <a:p>
            <a:r>
              <a:rPr b="0" lang="en-US" sz="1800" spc="-1" strike="noStrike">
                <a:solidFill>
                  <a:srgbClr val="111827"/>
                </a:solidFill>
                <a:latin typeface="Noto Sans CJK SC"/>
              </a:rPr>
              <a:t>VMC </a:t>
            </a:r>
            <a:r>
              <a:rPr b="0" lang="zh-CN" sz="1800" spc="-1" strike="noStrike">
                <a:solidFill>
                  <a:srgbClr val="111827"/>
                </a:solidFill>
                <a:latin typeface="Noto Sans CJK SC"/>
              </a:rPr>
              <a:t>将腿部期望力映射到髋关节</a:t>
            </a:r>
            <a:endParaRPr b="0" lang="en-US" sz="1800" spc="-1" strike="noStrike">
              <a:solidFill>
                <a:srgbClr val="111827"/>
              </a:solidFill>
              <a:latin typeface="Noto Sans CJK SC"/>
            </a:endParaRPr>
          </a:p>
          <a:p>
            <a:r>
              <a:rPr b="0" lang="zh-CN" sz="1800" spc="-1" strike="noStrike">
                <a:solidFill>
                  <a:srgbClr val="111827"/>
                </a:solidFill>
                <a:latin typeface="Noto Sans CJK SC"/>
              </a:rPr>
              <a:t>状态机协调行驶、起跳、腾空和落地</a:t>
            </a:r>
            <a:endParaRPr b="0" lang="en-US" sz="1800" spc="-1" strike="noStrike">
              <a:solidFill>
                <a:srgbClr val="111827"/>
              </a:solidFill>
              <a:latin typeface="Noto Sans CJK SC"/>
            </a:endParaRPr>
          </a:p>
        </p:txBody>
      </p:sp>
      <p:sp>
        <p:nvSpPr>
          <p:cNvPr id="66" name=""/>
          <p:cNvSpPr/>
          <p:nvPr/>
        </p:nvSpPr>
        <p:spPr>
          <a:xfrm>
            <a:off x="5580000" y="4212000"/>
            <a:ext cx="6156000" cy="12240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67" name=""/>
          <p:cNvSpPr txBox="1"/>
          <p:nvPr/>
        </p:nvSpPr>
        <p:spPr>
          <a:xfrm>
            <a:off x="5832000" y="4363200"/>
            <a:ext cx="5580000" cy="53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400" spc="-1" strike="noStrike">
                <a:solidFill>
                  <a:srgbClr val="3d8dff"/>
                </a:solidFill>
                <a:latin typeface="Noto Sans CJK SC"/>
              </a:rPr>
              <a:t>03  </a:t>
            </a:r>
            <a:r>
              <a:rPr b="1" lang="zh-CN" sz="2400" spc="-1" strike="noStrike">
                <a:solidFill>
                  <a:srgbClr val="3d8dff"/>
                </a:solidFill>
                <a:latin typeface="Noto Sans CJK SC"/>
              </a:rPr>
              <a:t>压力验证</a:t>
            </a:r>
            <a:endParaRPr b="1" lang="en-US" sz="2400" spc="-1" strike="noStrike">
              <a:solidFill>
                <a:srgbClr val="3d8dff"/>
              </a:solidFill>
              <a:latin typeface="Noto Sans CJK SC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5832000" y="4672800"/>
            <a:ext cx="5544000" cy="108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111827"/>
                </a:solidFill>
                <a:latin typeface="Noto Sans CJK SC"/>
              </a:rPr>
              <a:t>同时覆盖正常运动与极限扰动</a:t>
            </a:r>
            <a:endParaRPr b="0" lang="en-US" sz="1800" spc="-1" strike="noStrike">
              <a:solidFill>
                <a:srgbClr val="111827"/>
              </a:solidFill>
              <a:latin typeface="Noto Sans CJK SC"/>
            </a:endParaRPr>
          </a:p>
          <a:p>
            <a:r>
              <a:rPr b="0" lang="zh-CN" sz="1800" spc="-1" strike="noStrike">
                <a:solidFill>
                  <a:srgbClr val="111827"/>
                </a:solidFill>
                <a:latin typeface="Noto Sans CJK SC"/>
              </a:rPr>
              <a:t>用有限时长物理脉冲模拟外部碰撞</a:t>
            </a:r>
            <a:endParaRPr b="0" lang="en-US" sz="1800" spc="-1" strike="noStrike">
              <a:solidFill>
                <a:srgbClr val="111827"/>
              </a:solidFill>
              <a:latin typeface="Noto Sans CJK SC"/>
            </a:endParaRPr>
          </a:p>
          <a:p>
            <a:r>
              <a:rPr b="0" lang="zh-CN" sz="1800" spc="-1" strike="noStrike">
                <a:solidFill>
                  <a:srgbClr val="111827"/>
                </a:solidFill>
                <a:latin typeface="Noto Sans CJK SC"/>
              </a:rPr>
              <a:t>以姿态、速度、恢复时间和成功率评价</a:t>
            </a:r>
            <a:endParaRPr b="0" lang="en-US" sz="1800" spc="-1" strike="noStrike">
              <a:solidFill>
                <a:srgbClr val="111827"/>
              </a:solidFill>
              <a:latin typeface="Noto Sans CJK SC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03200" y="6490800"/>
            <a:ext cx="558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556274"/>
                </a:solidFill>
                <a:latin typeface="Noto Sans CJK SC"/>
              </a:rPr>
              <a:t>MuJoCo </a:t>
            </a:r>
            <a:r>
              <a:rPr b="0" lang="zh-CN" sz="1100" spc="-1" strike="noStrike">
                <a:solidFill>
                  <a:srgbClr val="556274"/>
                </a:solidFill>
                <a:latin typeface="Noto Sans CJK SC"/>
              </a:rPr>
              <a:t>物理仿真 </a:t>
            </a:r>
            <a:r>
              <a:rPr b="0" lang="en-US" sz="1100" spc="-1" strike="noStrike">
                <a:solidFill>
                  <a:srgbClr val="556274"/>
                </a:solidFill>
                <a:latin typeface="Noto Sans CJK SC"/>
              </a:rPr>
              <a:t>· </a:t>
            </a:r>
            <a:r>
              <a:rPr b="0" lang="zh-CN" sz="1100" spc="-1" strike="noStrike">
                <a:solidFill>
                  <a:srgbClr val="556274"/>
                </a:solidFill>
                <a:latin typeface="Noto Sans CJK SC"/>
              </a:rPr>
              <a:t>阶段成果</a:t>
            </a:r>
            <a:endParaRPr b="0" lang="en-US" sz="1100" spc="-1" strike="noStrike">
              <a:solidFill>
                <a:srgbClr val="556274"/>
              </a:solidFill>
              <a:latin typeface="Noto Sans CJK SC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1448000" y="6490800"/>
            <a:ext cx="324000" cy="29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en-US" sz="1100" spc="-1" strike="noStrike">
                <a:solidFill>
                  <a:srgbClr val="556274"/>
                </a:solidFill>
                <a:latin typeface="Noto Sans CJK SC"/>
              </a:rPr>
              <a:t>2</a:t>
            </a:r>
            <a:endParaRPr b="0" lang="en-US" sz="1100" spc="-1" strike="noStrike">
              <a:solidFill>
                <a:srgbClr val="556274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396000" y="306000"/>
            <a:ext cx="11376000" cy="75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600" spc="-1" strike="noStrike">
                <a:solidFill>
                  <a:srgbClr val="111827"/>
                </a:solidFill>
                <a:latin typeface="Noto Sans CJK SC"/>
              </a:rPr>
              <a:t>LQR </a:t>
            </a:r>
            <a:r>
              <a:rPr b="1" lang="zh-CN" sz="3600" spc="-1" strike="noStrike">
                <a:solidFill>
                  <a:srgbClr val="111827"/>
                </a:solidFill>
                <a:latin typeface="Noto Sans CJK SC"/>
              </a:rPr>
              <a:t>与 </a:t>
            </a:r>
            <a:r>
              <a:rPr b="1" lang="en-US" sz="3600" spc="-1" strike="noStrike">
                <a:solidFill>
                  <a:srgbClr val="111827"/>
                </a:solidFill>
                <a:latin typeface="Noto Sans CJK SC"/>
              </a:rPr>
              <a:t>VMC </a:t>
            </a:r>
            <a:r>
              <a:rPr b="1" lang="zh-CN" sz="3600" spc="-1" strike="noStrike">
                <a:solidFill>
                  <a:srgbClr val="111827"/>
                </a:solidFill>
                <a:latin typeface="Noto Sans CJK SC"/>
              </a:rPr>
              <a:t>协同实现稳定平衡、行驶和急停</a:t>
            </a:r>
            <a:endParaRPr b="1" lang="en-US" sz="3600" spc="-1" strike="noStrike">
              <a:solidFill>
                <a:srgbClr val="111827"/>
              </a:solidFill>
              <a:latin typeface="Noto Sans CJK SC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396000" y="954000"/>
            <a:ext cx="6768000" cy="78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000" spc="-1" strike="noStrike">
                <a:solidFill>
                  <a:srgbClr val="556274"/>
                </a:solidFill>
                <a:latin typeface="Noto Sans CJK SC"/>
              </a:rPr>
              <a:t>LQR </a:t>
            </a:r>
            <a:r>
              <a:rPr b="0" lang="zh-CN" sz="2000" spc="-1" strike="noStrike">
                <a:solidFill>
                  <a:srgbClr val="556274"/>
                </a:solidFill>
                <a:latin typeface="Noto Sans CJK SC"/>
              </a:rPr>
              <a:t>负责姿态与速度反馈，</a:t>
            </a:r>
            <a:r>
              <a:rPr b="0" lang="en-US" sz="2000" spc="-1" strike="noStrike">
                <a:solidFill>
                  <a:srgbClr val="556274"/>
                </a:solidFill>
                <a:latin typeface="Noto Sans CJK SC"/>
              </a:rPr>
              <a:t>VMC </a:t>
            </a:r>
            <a:r>
              <a:rPr b="0" lang="zh-CN" sz="2000" spc="-1" strike="noStrike">
                <a:solidFill>
                  <a:srgbClr val="556274"/>
                </a:solidFill>
                <a:latin typeface="Noto Sans CJK SC"/>
              </a:rPr>
              <a:t>调节腿部支撑力和车身调平，</a:t>
            </a:r>
            <a:endParaRPr b="0" lang="en-US" sz="2000" spc="-1" strike="noStrike">
              <a:solidFill>
                <a:srgbClr val="556274"/>
              </a:solidFill>
              <a:latin typeface="Noto Sans CJK SC"/>
            </a:endParaRPr>
          </a:p>
          <a:p>
            <a:r>
              <a:rPr b="0" lang="zh-CN" sz="2000" spc="-1" strike="noStrike">
                <a:solidFill>
                  <a:srgbClr val="556274"/>
                </a:solidFill>
                <a:latin typeface="Noto Sans CJK SC"/>
              </a:rPr>
              <a:t>并通过饱和优先级保证执行器受限时的稳定性。</a:t>
            </a:r>
            <a:endParaRPr b="0" lang="en-US" sz="2000" spc="-1" strike="noStrike">
              <a:solidFill>
                <a:srgbClr val="556274"/>
              </a:solidFill>
              <a:latin typeface="Noto Sans CJK SC"/>
            </a:endParaRPr>
          </a:p>
        </p:txBody>
      </p:sp>
      <p:sp>
        <p:nvSpPr>
          <p:cNvPr id="73" name=""/>
          <p:cNvSpPr/>
          <p:nvPr/>
        </p:nvSpPr>
        <p:spPr>
          <a:xfrm>
            <a:off x="7905600" y="921600"/>
            <a:ext cx="3844800" cy="2175480"/>
          </a:xfrm>
          <a:prstGeom prst="rect">
            <a:avLst/>
          </a:prstGeom>
          <a:solidFill>
            <a:srgbClr val="ffffff"/>
          </a:solidFill>
          <a:ln w="6480">
            <a:solidFill>
              <a:srgbClr val="b8bcc4"/>
            </a:solidFill>
            <a:round/>
          </a:ln>
        </p:spPr>
      </p:sp>
      <p:pic>
        <p:nvPicPr>
          <p:cNvPr id="74" name="" descr="轮腿机器人起跳瞬间"/>
          <p:cNvPicPr/>
          <p:nvPr/>
        </p:nvPicPr>
        <p:blipFill>
          <a:blip r:embed="rId1"/>
          <a:stretch/>
        </p:blipFill>
        <p:spPr>
          <a:xfrm>
            <a:off x="7920000" y="936000"/>
            <a:ext cx="3816000" cy="2146680"/>
          </a:xfrm>
          <a:prstGeom prst="rect">
            <a:avLst/>
          </a:prstGeom>
          <a:ln w="0">
            <a:noFill/>
          </a:ln>
        </p:spPr>
      </p:pic>
      <p:sp>
        <p:nvSpPr>
          <p:cNvPr id="75" name=""/>
          <p:cNvSpPr/>
          <p:nvPr/>
        </p:nvSpPr>
        <p:spPr>
          <a:xfrm>
            <a:off x="396000" y="3744000"/>
            <a:ext cx="3564000" cy="20520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76" name=""/>
          <p:cNvSpPr/>
          <p:nvPr/>
        </p:nvSpPr>
        <p:spPr>
          <a:xfrm>
            <a:off x="396000" y="3744000"/>
            <a:ext cx="3564000" cy="64800"/>
          </a:xfrm>
          <a:prstGeom prst="rect">
            <a:avLst/>
          </a:prstGeom>
          <a:solidFill>
            <a:srgbClr val="6dcbf4"/>
          </a:solidFill>
          <a:ln w="0">
            <a:noFill/>
          </a:ln>
        </p:spPr>
      </p:sp>
      <p:sp>
        <p:nvSpPr>
          <p:cNvPr id="77" name=""/>
          <p:cNvSpPr txBox="1"/>
          <p:nvPr/>
        </p:nvSpPr>
        <p:spPr>
          <a:xfrm>
            <a:off x="612000" y="4140000"/>
            <a:ext cx="3132000" cy="80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900" spc="-1" strike="noStrike">
                <a:solidFill>
                  <a:srgbClr val="111827"/>
                </a:solidFill>
                <a:latin typeface="Noto Sans CJK SC"/>
              </a:rPr>
              <a:t>0.0002 m</a:t>
            </a:r>
            <a:endParaRPr b="1" lang="en-US" sz="3900" spc="-1" strike="noStrike">
              <a:solidFill>
                <a:srgbClr val="111827"/>
              </a:solidFill>
              <a:latin typeface="Noto Sans CJK SC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612000" y="4824000"/>
            <a:ext cx="3132000" cy="45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111827"/>
                </a:solidFill>
                <a:latin typeface="Noto Sans CJK SC"/>
              </a:rPr>
              <a:t>20 s </a:t>
            </a:r>
            <a:r>
              <a:rPr b="1" lang="zh-CN" sz="2000" spc="-1" strike="noStrike">
                <a:solidFill>
                  <a:srgbClr val="111827"/>
                </a:solidFill>
                <a:latin typeface="Noto Sans CJK SC"/>
              </a:rPr>
              <a:t>站立漂移</a:t>
            </a:r>
            <a:endParaRPr b="1" lang="en-US" sz="2000" spc="-1" strike="noStrike">
              <a:solidFill>
                <a:srgbClr val="111827"/>
              </a:solidFill>
              <a:latin typeface="Noto Sans CJK SC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612000" y="5274000"/>
            <a:ext cx="3132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600" spc="-1" strike="noStrike">
                <a:solidFill>
                  <a:srgbClr val="556274"/>
                </a:solidFill>
                <a:latin typeface="Noto Sans CJK SC"/>
              </a:rPr>
              <a:t>最大俯仰 </a:t>
            </a:r>
            <a:r>
              <a:rPr b="0" lang="en-US" sz="1600" spc="-1" strike="noStrike">
                <a:solidFill>
                  <a:srgbClr val="556274"/>
                </a:solidFill>
                <a:latin typeface="Noto Sans CJK SC"/>
              </a:rPr>
              <a:t>0.16°</a:t>
            </a:r>
            <a:endParaRPr b="0" lang="en-US" sz="1600" spc="-1" strike="noStrike">
              <a:solidFill>
                <a:srgbClr val="556274"/>
              </a:solidFill>
              <a:latin typeface="Noto Sans CJK SC"/>
            </a:endParaRPr>
          </a:p>
        </p:txBody>
      </p:sp>
      <p:sp>
        <p:nvSpPr>
          <p:cNvPr id="80" name=""/>
          <p:cNvSpPr/>
          <p:nvPr/>
        </p:nvSpPr>
        <p:spPr>
          <a:xfrm>
            <a:off x="4320000" y="3744000"/>
            <a:ext cx="3564000" cy="20520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81" name=""/>
          <p:cNvSpPr/>
          <p:nvPr/>
        </p:nvSpPr>
        <p:spPr>
          <a:xfrm>
            <a:off x="4320000" y="3744000"/>
            <a:ext cx="3564000" cy="64800"/>
          </a:xfrm>
          <a:prstGeom prst="rect">
            <a:avLst/>
          </a:prstGeom>
          <a:solidFill>
            <a:srgbClr val="6dcbf4"/>
          </a:solidFill>
          <a:ln w="0">
            <a:noFill/>
          </a:ln>
        </p:spPr>
      </p:sp>
      <p:sp>
        <p:nvSpPr>
          <p:cNvPr id="82" name=""/>
          <p:cNvSpPr txBox="1"/>
          <p:nvPr/>
        </p:nvSpPr>
        <p:spPr>
          <a:xfrm>
            <a:off x="4536000" y="4140000"/>
            <a:ext cx="3132000" cy="75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600" spc="-1" strike="noStrike">
                <a:solidFill>
                  <a:srgbClr val="111827"/>
                </a:solidFill>
                <a:latin typeface="Noto Sans CJK SC"/>
              </a:rPr>
              <a:t>±1.0 m/s</a:t>
            </a:r>
            <a:endParaRPr b="1" lang="en-US" sz="3600" spc="-1" strike="noStrike">
              <a:solidFill>
                <a:srgbClr val="111827"/>
              </a:solidFill>
              <a:latin typeface="Noto Sans CJK SC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4536000" y="4824000"/>
            <a:ext cx="3132000" cy="45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000" spc="-1" strike="noStrike">
                <a:solidFill>
                  <a:srgbClr val="111827"/>
                </a:solidFill>
                <a:latin typeface="Noto Sans CJK SC"/>
              </a:rPr>
              <a:t>前进 </a:t>
            </a:r>
            <a:r>
              <a:rPr b="1" lang="en-US" sz="2000" spc="-1" strike="noStrike">
                <a:solidFill>
                  <a:srgbClr val="111827"/>
                </a:solidFill>
                <a:latin typeface="Noto Sans CJK SC"/>
              </a:rPr>
              <a:t>/ </a:t>
            </a:r>
            <a:r>
              <a:rPr b="1" lang="zh-CN" sz="2000" spc="-1" strike="noStrike">
                <a:solidFill>
                  <a:srgbClr val="111827"/>
                </a:solidFill>
                <a:latin typeface="Noto Sans CJK SC"/>
              </a:rPr>
              <a:t>后退稳定行驶</a:t>
            </a:r>
            <a:endParaRPr b="1" lang="en-US" sz="2000" spc="-1" strike="noStrike">
              <a:solidFill>
                <a:srgbClr val="111827"/>
              </a:solidFill>
              <a:latin typeface="Noto Sans CJK SC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4536000" y="5274000"/>
            <a:ext cx="3132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600" spc="-1" strike="noStrike">
                <a:solidFill>
                  <a:srgbClr val="556274"/>
                </a:solidFill>
                <a:latin typeface="Noto Sans CJK SC"/>
              </a:rPr>
              <a:t>速度保持无明显衰减</a:t>
            </a:r>
            <a:endParaRPr b="0" lang="en-US" sz="1600" spc="-1" strike="noStrike">
              <a:solidFill>
                <a:srgbClr val="556274"/>
              </a:solidFill>
              <a:latin typeface="Noto Sans CJK SC"/>
            </a:endParaRPr>
          </a:p>
        </p:txBody>
      </p:sp>
      <p:sp>
        <p:nvSpPr>
          <p:cNvPr id="85" name=""/>
          <p:cNvSpPr/>
          <p:nvPr/>
        </p:nvSpPr>
        <p:spPr>
          <a:xfrm>
            <a:off x="8244000" y="3744000"/>
            <a:ext cx="3564000" cy="20520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86" name=""/>
          <p:cNvSpPr/>
          <p:nvPr/>
        </p:nvSpPr>
        <p:spPr>
          <a:xfrm>
            <a:off x="8244000" y="3744000"/>
            <a:ext cx="3564000" cy="64800"/>
          </a:xfrm>
          <a:prstGeom prst="rect">
            <a:avLst/>
          </a:prstGeom>
          <a:solidFill>
            <a:srgbClr val="3d8dff"/>
          </a:solidFill>
          <a:ln w="0">
            <a:noFill/>
          </a:ln>
        </p:spPr>
      </p:sp>
      <p:sp>
        <p:nvSpPr>
          <p:cNvPr id="87" name=""/>
          <p:cNvSpPr txBox="1"/>
          <p:nvPr/>
        </p:nvSpPr>
        <p:spPr>
          <a:xfrm>
            <a:off x="8460000" y="4140000"/>
            <a:ext cx="3132000" cy="80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900" spc="-1" strike="noStrike">
                <a:solidFill>
                  <a:srgbClr val="111827"/>
                </a:solidFill>
                <a:latin typeface="Noto Sans CJK SC"/>
              </a:rPr>
              <a:t>0.350 m</a:t>
            </a:r>
            <a:endParaRPr b="1" lang="en-US" sz="3900" spc="-1" strike="noStrike">
              <a:solidFill>
                <a:srgbClr val="111827"/>
              </a:solidFill>
              <a:latin typeface="Noto Sans CJK SC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8460000" y="4824000"/>
            <a:ext cx="3132000" cy="45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111827"/>
                </a:solidFill>
                <a:latin typeface="Noto Sans CJK SC"/>
              </a:rPr>
              <a:t>1 m/s </a:t>
            </a:r>
            <a:r>
              <a:rPr b="1" lang="zh-CN" sz="2000" spc="-1" strike="noStrike">
                <a:solidFill>
                  <a:srgbClr val="111827"/>
                </a:solidFill>
                <a:latin typeface="Noto Sans CJK SC"/>
              </a:rPr>
              <a:t>急停滑行</a:t>
            </a:r>
            <a:endParaRPr b="1" lang="en-US" sz="2000" spc="-1" strike="noStrike">
              <a:solidFill>
                <a:srgbClr val="111827"/>
              </a:solidFill>
              <a:latin typeface="Noto Sans CJK SC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8460000" y="5274000"/>
            <a:ext cx="3132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600" spc="-1" strike="noStrike">
                <a:solidFill>
                  <a:srgbClr val="556274"/>
                </a:solidFill>
                <a:latin typeface="Noto Sans CJK SC"/>
              </a:rPr>
              <a:t>最大俯仰 </a:t>
            </a:r>
            <a:r>
              <a:rPr b="0" lang="en-US" sz="1600" spc="-1" strike="noStrike">
                <a:solidFill>
                  <a:srgbClr val="556274"/>
                </a:solidFill>
                <a:latin typeface="Noto Sans CJK SC"/>
              </a:rPr>
              <a:t>3.17°</a:t>
            </a:r>
            <a:endParaRPr b="0" lang="en-US" sz="1600" spc="-1" strike="noStrike">
              <a:solidFill>
                <a:srgbClr val="556274"/>
              </a:solidFill>
              <a:latin typeface="Noto Sans CJK SC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403200" y="6490800"/>
            <a:ext cx="558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556274"/>
                </a:solidFill>
                <a:latin typeface="Noto Sans CJK SC"/>
              </a:rPr>
              <a:t>MuJoCo </a:t>
            </a:r>
            <a:r>
              <a:rPr b="0" lang="zh-CN" sz="1100" spc="-1" strike="noStrike">
                <a:solidFill>
                  <a:srgbClr val="556274"/>
                </a:solidFill>
                <a:latin typeface="Noto Sans CJK SC"/>
              </a:rPr>
              <a:t>物理仿真 </a:t>
            </a:r>
            <a:r>
              <a:rPr b="0" lang="en-US" sz="1100" spc="-1" strike="noStrike">
                <a:solidFill>
                  <a:srgbClr val="556274"/>
                </a:solidFill>
                <a:latin typeface="Noto Sans CJK SC"/>
              </a:rPr>
              <a:t>· </a:t>
            </a:r>
            <a:r>
              <a:rPr b="0" lang="zh-CN" sz="1100" spc="-1" strike="noStrike">
                <a:solidFill>
                  <a:srgbClr val="556274"/>
                </a:solidFill>
                <a:latin typeface="Noto Sans CJK SC"/>
              </a:rPr>
              <a:t>阶段成果</a:t>
            </a:r>
            <a:endParaRPr b="0" lang="en-US" sz="1100" spc="-1" strike="noStrike">
              <a:solidFill>
                <a:srgbClr val="556274"/>
              </a:solidFill>
              <a:latin typeface="Noto Sans CJK SC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1448000" y="6490800"/>
            <a:ext cx="324000" cy="29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en-US" sz="1100" spc="-1" strike="noStrike">
                <a:solidFill>
                  <a:srgbClr val="556274"/>
                </a:solidFill>
                <a:latin typeface="Noto Sans CJK SC"/>
              </a:rPr>
              <a:t>3</a:t>
            </a:r>
            <a:endParaRPr b="0" lang="en-US" sz="1100" spc="-1" strike="noStrike">
              <a:solidFill>
                <a:srgbClr val="556274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 txBox="1"/>
          <p:nvPr/>
        </p:nvSpPr>
        <p:spPr>
          <a:xfrm>
            <a:off x="396000" y="306000"/>
            <a:ext cx="11376000" cy="63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600" spc="-1" strike="noStrike">
                <a:solidFill>
                  <a:srgbClr val="111827"/>
                </a:solidFill>
                <a:latin typeface="Noto Sans CJK SC"/>
              </a:rPr>
              <a:t>分阶段跳跃控制实现三类单跳与稳定连续跳跃</a:t>
            </a:r>
            <a:endParaRPr b="1" lang="en-US" sz="3600" spc="-1" strike="noStrike">
              <a:solidFill>
                <a:srgbClr val="111827"/>
              </a:solidFill>
              <a:latin typeface="Noto Sans CJK SC"/>
            </a:endParaRPr>
          </a:p>
        </p:txBody>
      </p:sp>
      <p:sp>
        <p:nvSpPr>
          <p:cNvPr id="93" name=""/>
          <p:cNvSpPr/>
          <p:nvPr/>
        </p:nvSpPr>
        <p:spPr>
          <a:xfrm>
            <a:off x="381600" y="1245600"/>
            <a:ext cx="5464800" cy="3086640"/>
          </a:xfrm>
          <a:prstGeom prst="rect">
            <a:avLst/>
          </a:prstGeom>
          <a:solidFill>
            <a:srgbClr val="ffffff"/>
          </a:solidFill>
          <a:ln w="6480">
            <a:solidFill>
              <a:srgbClr val="b8bcc4"/>
            </a:solidFill>
            <a:round/>
          </a:ln>
        </p:spPr>
      </p:sp>
      <p:pic>
        <p:nvPicPr>
          <p:cNvPr id="94" name="" descr="轮腿机器人腾空峰值"/>
          <p:cNvPicPr/>
          <p:nvPr/>
        </p:nvPicPr>
        <p:blipFill>
          <a:blip r:embed="rId1"/>
          <a:stretch/>
        </p:blipFill>
        <p:spPr>
          <a:xfrm>
            <a:off x="396000" y="1260000"/>
            <a:ext cx="5436000" cy="3057840"/>
          </a:xfrm>
          <a:prstGeom prst="rect">
            <a:avLst/>
          </a:prstGeom>
          <a:ln w="0">
            <a:noFill/>
          </a:ln>
        </p:spPr>
      </p:pic>
      <p:sp>
        <p:nvSpPr>
          <p:cNvPr id="95" name=""/>
          <p:cNvSpPr txBox="1"/>
          <p:nvPr/>
        </p:nvSpPr>
        <p:spPr>
          <a:xfrm>
            <a:off x="6300000" y="1242000"/>
            <a:ext cx="2088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700" spc="-1" strike="noStrike">
                <a:solidFill>
                  <a:srgbClr val="3d8dff"/>
                </a:solidFill>
                <a:latin typeface="Noto Sans CJK SC"/>
              </a:rPr>
              <a:t>研究方法</a:t>
            </a:r>
            <a:endParaRPr b="1" lang="en-US" sz="1700" spc="-1" strike="noStrike">
              <a:solidFill>
                <a:srgbClr val="3d8dff"/>
              </a:solidFill>
              <a:latin typeface="Noto Sans CJK SC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6300000" y="1548000"/>
            <a:ext cx="2412000" cy="2479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900" spc="-1" strike="noStrike">
                <a:solidFill>
                  <a:srgbClr val="111827"/>
                </a:solidFill>
                <a:latin typeface="Noto Sans CJK SC"/>
              </a:rPr>
              <a:t>PREP </a:t>
            </a:r>
            <a:r>
              <a:rPr b="1" lang="zh-CN" sz="1900" spc="-1" strike="noStrike">
                <a:solidFill>
                  <a:srgbClr val="111827"/>
                </a:solidFill>
                <a:latin typeface="Noto Sans CJK SC"/>
              </a:rPr>
              <a:t>收敛起飞边界</a:t>
            </a:r>
            <a:endParaRPr b="1" lang="en-US" sz="1900" spc="-1" strike="noStrike">
              <a:solidFill>
                <a:srgbClr val="111827"/>
              </a:solidFill>
              <a:latin typeface="Noto Sans CJK SC"/>
            </a:endParaRPr>
          </a:p>
          <a:p>
            <a:r>
              <a:rPr b="1" lang="en-US" sz="1900" spc="-1" strike="noStrike">
                <a:solidFill>
                  <a:srgbClr val="111827"/>
                </a:solidFill>
                <a:latin typeface="Noto Sans CJK SC"/>
              </a:rPr>
              <a:t>SQUAT / JUMP </a:t>
            </a:r>
            <a:r>
              <a:rPr b="1" lang="zh-CN" sz="1900" spc="-1" strike="noStrike">
                <a:solidFill>
                  <a:srgbClr val="111827"/>
                </a:solidFill>
                <a:latin typeface="Noto Sans CJK SC"/>
              </a:rPr>
              <a:t>生成竖直冲量</a:t>
            </a:r>
            <a:endParaRPr b="1" lang="en-US" sz="1900" spc="-1" strike="noStrike">
              <a:solidFill>
                <a:srgbClr val="111827"/>
              </a:solidFill>
              <a:latin typeface="Noto Sans CJK SC"/>
            </a:endParaRPr>
          </a:p>
          <a:p>
            <a:r>
              <a:rPr b="1" lang="en-US" sz="1900" spc="-1" strike="noStrike">
                <a:solidFill>
                  <a:srgbClr val="111827"/>
                </a:solidFill>
                <a:latin typeface="Noto Sans CJK SC"/>
              </a:rPr>
              <a:t>FLY </a:t>
            </a:r>
            <a:r>
              <a:rPr b="1" lang="zh-CN" sz="1900" spc="-1" strike="noStrike">
                <a:solidFill>
                  <a:srgbClr val="111827"/>
                </a:solidFill>
                <a:latin typeface="Noto Sans CJK SC"/>
              </a:rPr>
              <a:t>利用轮端反作用调姿</a:t>
            </a:r>
            <a:endParaRPr b="1" lang="en-US" sz="1900" spc="-1" strike="noStrike">
              <a:solidFill>
                <a:srgbClr val="111827"/>
              </a:solidFill>
              <a:latin typeface="Noto Sans CJK SC"/>
            </a:endParaRPr>
          </a:p>
          <a:p>
            <a:r>
              <a:rPr b="1" lang="en-US" sz="1900" spc="-1" strike="noStrike">
                <a:solidFill>
                  <a:srgbClr val="111827"/>
                </a:solidFill>
                <a:latin typeface="Noto Sans CJK SC"/>
              </a:rPr>
              <a:t>LAND </a:t>
            </a:r>
            <a:r>
              <a:rPr b="1" lang="zh-CN" sz="1900" spc="-1" strike="noStrike">
                <a:solidFill>
                  <a:srgbClr val="111827"/>
                </a:solidFill>
                <a:latin typeface="Noto Sans CJK SC"/>
              </a:rPr>
              <a:t>采用阻抗缓冲恢复</a:t>
            </a:r>
            <a:endParaRPr b="1" lang="en-US" sz="1900" spc="-1" strike="noStrike">
              <a:solidFill>
                <a:srgbClr val="111827"/>
              </a:solidFill>
              <a:latin typeface="Noto Sans CJK SC"/>
            </a:endParaRPr>
          </a:p>
        </p:txBody>
      </p:sp>
      <p:sp>
        <p:nvSpPr>
          <p:cNvPr id="97" name=""/>
          <p:cNvSpPr/>
          <p:nvPr/>
        </p:nvSpPr>
        <p:spPr>
          <a:xfrm>
            <a:off x="8820000" y="1152000"/>
            <a:ext cx="2916000" cy="12240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98" name=""/>
          <p:cNvSpPr txBox="1"/>
          <p:nvPr/>
        </p:nvSpPr>
        <p:spPr>
          <a:xfrm>
            <a:off x="9072000" y="1332000"/>
            <a:ext cx="2448000" cy="53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400" spc="-1" strike="noStrike">
                <a:solidFill>
                  <a:srgbClr val="111827"/>
                </a:solidFill>
                <a:latin typeface="Noto Sans CJK SC"/>
              </a:rPr>
              <a:t>0.244–0.252 m</a:t>
            </a:r>
            <a:endParaRPr b="1" lang="en-US" sz="2400" spc="-1" strike="noStrike">
              <a:solidFill>
                <a:srgbClr val="111827"/>
              </a:solidFill>
              <a:latin typeface="Noto Sans CJK SC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9072000" y="1710000"/>
            <a:ext cx="2448000" cy="75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600" spc="-1" strike="noStrike">
                <a:solidFill>
                  <a:srgbClr val="556274"/>
                </a:solidFill>
                <a:latin typeface="Noto Sans CJK SC"/>
              </a:rPr>
              <a:t>静止、前进和后退三类跳跃高度</a:t>
            </a:r>
            <a:endParaRPr b="0" lang="en-US" sz="1600" spc="-1" strike="noStrike">
              <a:solidFill>
                <a:srgbClr val="556274"/>
              </a:solidFill>
              <a:latin typeface="Noto Sans CJK SC"/>
            </a:endParaRPr>
          </a:p>
        </p:txBody>
      </p:sp>
      <p:sp>
        <p:nvSpPr>
          <p:cNvPr id="100" name=""/>
          <p:cNvSpPr/>
          <p:nvPr/>
        </p:nvSpPr>
        <p:spPr>
          <a:xfrm>
            <a:off x="8820000" y="2736000"/>
            <a:ext cx="2916000" cy="12240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101" name=""/>
          <p:cNvSpPr txBox="1"/>
          <p:nvPr/>
        </p:nvSpPr>
        <p:spPr>
          <a:xfrm>
            <a:off x="9072000" y="2916000"/>
            <a:ext cx="2448000" cy="53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400" spc="-1" strike="noStrike">
                <a:solidFill>
                  <a:srgbClr val="111827"/>
                </a:solidFill>
                <a:latin typeface="Noto Sans CJK SC"/>
              </a:rPr>
              <a:t>6 </a:t>
            </a:r>
            <a:r>
              <a:rPr b="1" lang="zh-CN" sz="2400" spc="-1" strike="noStrike">
                <a:solidFill>
                  <a:srgbClr val="111827"/>
                </a:solidFill>
                <a:latin typeface="Noto Sans CJK SC"/>
              </a:rPr>
              <a:t>组工况均 </a:t>
            </a:r>
            <a:r>
              <a:rPr b="1" lang="en-US" sz="2400" spc="-1" strike="noStrike">
                <a:solidFill>
                  <a:srgbClr val="111827"/>
                </a:solidFill>
                <a:latin typeface="Noto Sans CJK SC"/>
              </a:rPr>
              <a:t>3/3</a:t>
            </a:r>
            <a:endParaRPr b="1" lang="en-US" sz="2400" spc="-1" strike="noStrike">
              <a:solidFill>
                <a:srgbClr val="111827"/>
              </a:solidFill>
              <a:latin typeface="Noto Sans CJK SC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9072000" y="3294000"/>
            <a:ext cx="2448000" cy="75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556274"/>
                </a:solidFill>
                <a:latin typeface="Noto Sans CJK SC"/>
              </a:rPr>
              <a:t>0</a:t>
            </a:r>
            <a:r>
              <a:rPr b="0" lang="zh-CN" sz="1600" spc="-1" strike="noStrike">
                <a:solidFill>
                  <a:srgbClr val="556274"/>
                </a:solidFill>
                <a:latin typeface="Noto Sans CJK SC"/>
              </a:rPr>
              <a:t>、</a:t>
            </a:r>
            <a:r>
              <a:rPr b="0" lang="en-US" sz="1600" spc="-1" strike="noStrike">
                <a:solidFill>
                  <a:srgbClr val="556274"/>
                </a:solidFill>
                <a:latin typeface="Noto Sans CJK SC"/>
              </a:rPr>
              <a:t>±1 m/s × </a:t>
            </a:r>
            <a:r>
              <a:rPr b="0" lang="zh-CN" sz="1600" spc="-1" strike="noStrike">
                <a:solidFill>
                  <a:srgbClr val="556274"/>
                </a:solidFill>
                <a:latin typeface="Noto Sans CJK SC"/>
              </a:rPr>
              <a:t>无扰动 </a:t>
            </a:r>
            <a:r>
              <a:rPr b="0" lang="en-US" sz="1600" spc="-1" strike="noStrike">
                <a:solidFill>
                  <a:srgbClr val="556274"/>
                </a:solidFill>
                <a:latin typeface="Noto Sans CJK SC"/>
              </a:rPr>
              <a:t>/ </a:t>
            </a:r>
            <a:r>
              <a:rPr b="0" lang="zh-CN" sz="1600" spc="-1" strike="noStrike">
                <a:solidFill>
                  <a:srgbClr val="556274"/>
                </a:solidFill>
                <a:latin typeface="Noto Sans CJK SC"/>
              </a:rPr>
              <a:t>物理扰动</a:t>
            </a:r>
            <a:endParaRPr b="0" lang="en-US" sz="1600" spc="-1" strike="noStrike">
              <a:solidFill>
                <a:srgbClr val="556274"/>
              </a:solidFill>
              <a:latin typeface="Noto Sans CJK SC"/>
            </a:endParaRPr>
          </a:p>
        </p:txBody>
      </p:sp>
      <p:sp>
        <p:nvSpPr>
          <p:cNvPr id="103" name=""/>
          <p:cNvSpPr/>
          <p:nvPr/>
        </p:nvSpPr>
        <p:spPr>
          <a:xfrm>
            <a:off x="8820000" y="4320000"/>
            <a:ext cx="2916000" cy="12240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104" name=""/>
          <p:cNvSpPr txBox="1"/>
          <p:nvPr/>
        </p:nvSpPr>
        <p:spPr>
          <a:xfrm>
            <a:off x="9072000" y="4500000"/>
            <a:ext cx="2448000" cy="53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400" spc="-1" strike="noStrike">
                <a:solidFill>
                  <a:srgbClr val="111827"/>
                </a:solidFill>
                <a:latin typeface="Noto Sans CJK SC"/>
              </a:rPr>
              <a:t>pitch ≤ 4.10°</a:t>
            </a:r>
            <a:endParaRPr b="1" lang="en-US" sz="2400" spc="-1" strike="noStrike">
              <a:solidFill>
                <a:srgbClr val="111827"/>
              </a:solidFill>
              <a:latin typeface="Noto Sans CJK SC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9072000" y="4878000"/>
            <a:ext cx="2448000" cy="104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600" spc="-1" strike="noStrike">
                <a:solidFill>
                  <a:srgbClr val="556274"/>
                </a:solidFill>
                <a:latin typeface="Noto Sans CJK SC"/>
              </a:rPr>
              <a:t>跳跃阶段 </a:t>
            </a:r>
            <a:r>
              <a:rPr b="0" lang="en-US" sz="1600" spc="-1" strike="noStrike">
                <a:solidFill>
                  <a:srgbClr val="556274"/>
                </a:solidFill>
                <a:latin typeface="Noto Sans CJK SC"/>
              </a:rPr>
              <a:t>yaw ≤ 0.70°</a:t>
            </a:r>
            <a:r>
              <a:rPr b="0" lang="zh-CN" sz="1600" spc="-1" strike="noStrike">
                <a:solidFill>
                  <a:srgbClr val="556274"/>
                </a:solidFill>
                <a:latin typeface="Noto Sans CJK SC"/>
              </a:rPr>
              <a:t>，速度最低 </a:t>
            </a:r>
            <a:r>
              <a:rPr b="0" lang="en-US" sz="1600" spc="-1" strike="noStrike">
                <a:solidFill>
                  <a:srgbClr val="556274"/>
                </a:solidFill>
                <a:latin typeface="Noto Sans CJK SC"/>
              </a:rPr>
              <a:t>0.80 m/s</a:t>
            </a:r>
            <a:endParaRPr b="0" lang="en-US" sz="1600" spc="-1" strike="noStrike">
              <a:solidFill>
                <a:srgbClr val="556274"/>
              </a:solidFill>
              <a:latin typeface="Noto Sans CJK SC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403200" y="6490800"/>
            <a:ext cx="558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556274"/>
                </a:solidFill>
                <a:latin typeface="Noto Sans CJK SC"/>
              </a:rPr>
              <a:t>MuJoCo </a:t>
            </a:r>
            <a:r>
              <a:rPr b="0" lang="zh-CN" sz="1100" spc="-1" strike="noStrike">
                <a:solidFill>
                  <a:srgbClr val="556274"/>
                </a:solidFill>
                <a:latin typeface="Noto Sans CJK SC"/>
              </a:rPr>
              <a:t>物理仿真 </a:t>
            </a:r>
            <a:r>
              <a:rPr b="0" lang="en-US" sz="1100" spc="-1" strike="noStrike">
                <a:solidFill>
                  <a:srgbClr val="556274"/>
                </a:solidFill>
                <a:latin typeface="Noto Sans CJK SC"/>
              </a:rPr>
              <a:t>· </a:t>
            </a:r>
            <a:r>
              <a:rPr b="0" lang="zh-CN" sz="1100" spc="-1" strike="noStrike">
                <a:solidFill>
                  <a:srgbClr val="556274"/>
                </a:solidFill>
                <a:latin typeface="Noto Sans CJK SC"/>
              </a:rPr>
              <a:t>阶段成果</a:t>
            </a:r>
            <a:endParaRPr b="0" lang="en-US" sz="1100" spc="-1" strike="noStrike">
              <a:solidFill>
                <a:srgbClr val="556274"/>
              </a:solidFill>
              <a:latin typeface="Noto Sans CJK SC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1448000" y="6490800"/>
            <a:ext cx="324000" cy="29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en-US" sz="1100" spc="-1" strike="noStrike">
                <a:solidFill>
                  <a:srgbClr val="556274"/>
                </a:solidFill>
                <a:latin typeface="Noto Sans CJK SC"/>
              </a:rPr>
              <a:t>4</a:t>
            </a:r>
            <a:endParaRPr b="0" lang="en-US" sz="1100" spc="-1" strike="noStrike">
              <a:solidFill>
                <a:srgbClr val="556274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 txBox="1"/>
          <p:nvPr/>
        </p:nvSpPr>
        <p:spPr>
          <a:xfrm>
            <a:off x="396000" y="306000"/>
            <a:ext cx="11376000" cy="63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600" spc="-1" strike="noStrike">
                <a:solidFill>
                  <a:srgbClr val="111827"/>
                </a:solidFill>
                <a:latin typeface="Noto Sans CJK SC"/>
              </a:rPr>
              <a:t>物理扰动与硬件约束联合验证迁移可行性</a:t>
            </a:r>
            <a:endParaRPr b="1" lang="en-US" sz="3600" spc="-1" strike="noStrike">
              <a:solidFill>
                <a:srgbClr val="111827"/>
              </a:solidFill>
              <a:latin typeface="Noto Sans CJK SC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396000" y="1188000"/>
            <a:ext cx="25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800" spc="-1" strike="noStrike">
                <a:solidFill>
                  <a:srgbClr val="3d8dff"/>
                </a:solidFill>
                <a:latin typeface="Noto Sans CJK SC"/>
              </a:rPr>
              <a:t>研究方法</a:t>
            </a:r>
            <a:endParaRPr b="1" lang="en-US" sz="1800" spc="-1" strike="noStrike">
              <a:solidFill>
                <a:srgbClr val="3d8dff"/>
              </a:solidFill>
              <a:latin typeface="Noto Sans CJK SC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396000" y="1548000"/>
            <a:ext cx="5256000" cy="194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100" spc="-1" strike="noStrike">
                <a:solidFill>
                  <a:srgbClr val="111827"/>
                </a:solidFill>
                <a:latin typeface="Noto Sans CJK SC"/>
              </a:rPr>
              <a:t>• </a:t>
            </a:r>
            <a:r>
              <a:rPr b="0" lang="zh-CN" sz="2100" spc="-1" strike="noStrike">
                <a:solidFill>
                  <a:srgbClr val="111827"/>
                </a:solidFill>
                <a:latin typeface="Noto Sans CJK SC"/>
              </a:rPr>
              <a:t>用有限时长物理力 </a:t>
            </a:r>
            <a:r>
              <a:rPr b="0" lang="en-US" sz="2100" spc="-1" strike="noStrike">
                <a:solidFill>
                  <a:srgbClr val="111827"/>
                </a:solidFill>
                <a:latin typeface="Noto Sans CJK SC"/>
              </a:rPr>
              <a:t>/ </a:t>
            </a:r>
            <a:r>
              <a:rPr b="0" lang="zh-CN" sz="2100" spc="-1" strike="noStrike">
                <a:solidFill>
                  <a:srgbClr val="111827"/>
                </a:solidFill>
                <a:latin typeface="Noto Sans CJK SC"/>
              </a:rPr>
              <a:t>力矩脉冲模拟碰撞</a:t>
            </a:r>
            <a:endParaRPr b="0" lang="en-US" sz="2100" spc="-1" strike="noStrike">
              <a:solidFill>
                <a:srgbClr val="111827"/>
              </a:solidFill>
              <a:latin typeface="Noto Sans CJK SC"/>
            </a:endParaRPr>
          </a:p>
          <a:p>
            <a:r>
              <a:rPr b="0" lang="en-US" sz="2100" spc="-1" strike="noStrike">
                <a:solidFill>
                  <a:srgbClr val="111827"/>
                </a:solidFill>
                <a:latin typeface="Noto Sans CJK SC"/>
              </a:rPr>
              <a:t>• </a:t>
            </a:r>
            <a:r>
              <a:rPr b="0" lang="zh-CN" sz="2100" spc="-1" strike="noStrike">
                <a:solidFill>
                  <a:srgbClr val="111827"/>
                </a:solidFill>
                <a:latin typeface="Noto Sans CJK SC"/>
              </a:rPr>
              <a:t>构建不同速度、方向和扰动类型的压力矩阵</a:t>
            </a:r>
            <a:endParaRPr b="0" lang="en-US" sz="2100" spc="-1" strike="noStrike">
              <a:solidFill>
                <a:srgbClr val="111827"/>
              </a:solidFill>
              <a:latin typeface="Noto Sans CJK SC"/>
            </a:endParaRPr>
          </a:p>
          <a:p>
            <a:r>
              <a:rPr b="0" lang="en-US" sz="2100" spc="-1" strike="noStrike">
                <a:solidFill>
                  <a:srgbClr val="111827"/>
                </a:solidFill>
                <a:latin typeface="Noto Sans CJK SC"/>
              </a:rPr>
              <a:t>• </a:t>
            </a:r>
            <a:r>
              <a:rPr b="0" lang="zh-CN" sz="2100" spc="-1" strike="noStrike">
                <a:solidFill>
                  <a:srgbClr val="111827"/>
                </a:solidFill>
                <a:latin typeface="Noto Sans CJK SC"/>
              </a:rPr>
              <a:t>从运动过程提取扭矩—转速—功率需求</a:t>
            </a:r>
            <a:endParaRPr b="0" lang="en-US" sz="2100" spc="-1" strike="noStrike">
              <a:solidFill>
                <a:srgbClr val="111827"/>
              </a:solidFill>
              <a:latin typeface="Noto Sans CJK SC"/>
            </a:endParaRPr>
          </a:p>
          <a:p>
            <a:r>
              <a:rPr b="0" lang="en-US" sz="2100" spc="-1" strike="noStrike">
                <a:solidFill>
                  <a:srgbClr val="111827"/>
                </a:solidFill>
                <a:latin typeface="Noto Sans CJK SC"/>
              </a:rPr>
              <a:t>• </a:t>
            </a:r>
            <a:r>
              <a:rPr b="0" lang="zh-CN" sz="2100" spc="-1" strike="noStrike">
                <a:solidFill>
                  <a:srgbClr val="111827"/>
                </a:solidFill>
                <a:latin typeface="Noto Sans CJK SC"/>
              </a:rPr>
              <a:t>将控制需求映射到电机、传动与电源约束</a:t>
            </a:r>
            <a:endParaRPr b="0" lang="en-US" sz="2100" spc="-1" strike="noStrike">
              <a:solidFill>
                <a:srgbClr val="111827"/>
              </a:solidFill>
              <a:latin typeface="Noto Sans CJK SC"/>
            </a:endParaRPr>
          </a:p>
        </p:txBody>
      </p:sp>
      <p:sp>
        <p:nvSpPr>
          <p:cNvPr id="111" name=""/>
          <p:cNvSpPr/>
          <p:nvPr/>
        </p:nvSpPr>
        <p:spPr>
          <a:xfrm>
            <a:off x="396000" y="3924000"/>
            <a:ext cx="5220000" cy="15120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112" name=""/>
          <p:cNvSpPr txBox="1"/>
          <p:nvPr/>
        </p:nvSpPr>
        <p:spPr>
          <a:xfrm>
            <a:off x="648000" y="4176000"/>
            <a:ext cx="216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000" spc="-1" strike="noStrike">
                <a:solidFill>
                  <a:srgbClr val="3d8dff"/>
                </a:solidFill>
                <a:latin typeface="Noto Sans CJK SC"/>
              </a:rPr>
              <a:t>实现效果</a:t>
            </a:r>
            <a:endParaRPr b="1" lang="en-US" sz="2000" spc="-1" strike="noStrike">
              <a:solidFill>
                <a:srgbClr val="3d8dff"/>
              </a:solidFill>
              <a:latin typeface="Noto Sans CJK SC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648000" y="4536000"/>
            <a:ext cx="4608000" cy="130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400" spc="-1" strike="noStrike">
                <a:solidFill>
                  <a:srgbClr val="111827"/>
                </a:solidFill>
                <a:latin typeface="Noto Sans CJK SC"/>
              </a:rPr>
              <a:t>12 / 12 </a:t>
            </a:r>
            <a:r>
              <a:rPr b="1" lang="zh-CN" sz="2400" spc="-1" strike="noStrike">
                <a:solidFill>
                  <a:srgbClr val="111827"/>
                </a:solidFill>
                <a:latin typeface="Noto Sans CJK SC"/>
              </a:rPr>
              <a:t>抗扰通过</a:t>
            </a:r>
            <a:endParaRPr b="1" lang="en-US" sz="2400" spc="-1" strike="noStrike">
              <a:solidFill>
                <a:srgbClr val="111827"/>
              </a:solidFill>
              <a:latin typeface="Noto Sans CJK SC"/>
            </a:endParaRPr>
          </a:p>
          <a:p>
            <a:r>
              <a:rPr b="1" lang="zh-CN" sz="2400" spc="-1" strike="noStrike">
                <a:solidFill>
                  <a:srgbClr val="111827"/>
                </a:solidFill>
                <a:latin typeface="Noto Sans CJK SC"/>
              </a:rPr>
              <a:t>最长恢复 </a:t>
            </a:r>
            <a:r>
              <a:rPr b="1" lang="en-US" sz="2400" spc="-1" strike="noStrike">
                <a:solidFill>
                  <a:srgbClr val="111827"/>
                </a:solidFill>
                <a:latin typeface="Noto Sans CJK SC"/>
              </a:rPr>
              <a:t>0.35 s</a:t>
            </a:r>
            <a:endParaRPr b="1" lang="en-US" sz="2400" spc="-1" strike="noStrike">
              <a:solidFill>
                <a:srgbClr val="111827"/>
              </a:solidFill>
              <a:latin typeface="Noto Sans CJK SC"/>
            </a:endParaRPr>
          </a:p>
          <a:p>
            <a:r>
              <a:rPr b="1" lang="zh-CN" sz="2400" spc="-1" strike="noStrike">
                <a:solidFill>
                  <a:srgbClr val="111827"/>
                </a:solidFill>
                <a:latin typeface="Noto Sans CJK SC"/>
              </a:rPr>
              <a:t>硬件名义模型三类跳跃通过</a:t>
            </a:r>
            <a:endParaRPr b="1" lang="en-US" sz="2400" spc="-1" strike="noStrike">
              <a:solidFill>
                <a:srgbClr val="111827"/>
              </a:solidFill>
              <a:latin typeface="Noto Sans CJK SC"/>
            </a:endParaRPr>
          </a:p>
        </p:txBody>
      </p:sp>
      <p:sp>
        <p:nvSpPr>
          <p:cNvPr id="114" name=""/>
          <p:cNvSpPr/>
          <p:nvPr/>
        </p:nvSpPr>
        <p:spPr>
          <a:xfrm>
            <a:off x="6501600" y="1119600"/>
            <a:ext cx="5248800" cy="2964960"/>
          </a:xfrm>
          <a:prstGeom prst="rect">
            <a:avLst/>
          </a:prstGeom>
          <a:solidFill>
            <a:srgbClr val="ffffff"/>
          </a:solidFill>
          <a:ln w="6480">
            <a:solidFill>
              <a:srgbClr val="b8bcc4"/>
            </a:solidFill>
            <a:round/>
          </a:ln>
        </p:spPr>
      </p:sp>
      <p:pic>
        <p:nvPicPr>
          <p:cNvPr id="115" name="" descr="轮腿机器人落地阶段"/>
          <p:cNvPicPr/>
          <p:nvPr/>
        </p:nvPicPr>
        <p:blipFill>
          <a:blip r:embed="rId1"/>
          <a:stretch/>
        </p:blipFill>
        <p:spPr>
          <a:xfrm>
            <a:off x="6516000" y="1134000"/>
            <a:ext cx="5220000" cy="2936160"/>
          </a:xfrm>
          <a:prstGeom prst="rect">
            <a:avLst/>
          </a:prstGeom>
          <a:ln w="0">
            <a:noFill/>
          </a:ln>
        </p:spPr>
      </p:pic>
      <p:sp>
        <p:nvSpPr>
          <p:cNvPr id="116" name=""/>
          <p:cNvSpPr txBox="1"/>
          <p:nvPr/>
        </p:nvSpPr>
        <p:spPr>
          <a:xfrm>
            <a:off x="6516000" y="4284000"/>
            <a:ext cx="5220000" cy="108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700" spc="-1" strike="noStrike">
                <a:solidFill>
                  <a:srgbClr val="111827"/>
                </a:solidFill>
                <a:latin typeface="Noto Sans CJK SC"/>
              </a:rPr>
              <a:t>名义方案：</a:t>
            </a:r>
            <a:r>
              <a:rPr b="1" lang="en-US" sz="1700" spc="-1" strike="noStrike">
                <a:solidFill>
                  <a:srgbClr val="111827"/>
                </a:solidFill>
                <a:latin typeface="Noto Sans CJK SC"/>
              </a:rPr>
              <a:t>6 </a:t>
            </a:r>
            <a:r>
              <a:rPr b="1" lang="zh-CN" sz="1700" spc="-1" strike="noStrike">
                <a:solidFill>
                  <a:srgbClr val="111827"/>
                </a:solidFill>
                <a:latin typeface="Noto Sans CJK SC"/>
              </a:rPr>
              <a:t>台 </a:t>
            </a:r>
            <a:r>
              <a:rPr b="1" lang="en-US" sz="1700" spc="-1" strike="noStrike">
                <a:solidFill>
                  <a:srgbClr val="111827"/>
                </a:solidFill>
                <a:latin typeface="Noto Sans CJK SC"/>
              </a:rPr>
              <a:t>RI85-PH</a:t>
            </a:r>
            <a:r>
              <a:rPr b="1" lang="zh-CN" sz="1700" spc="-1" strike="noStrike">
                <a:solidFill>
                  <a:srgbClr val="111827"/>
                </a:solidFill>
                <a:latin typeface="Noto Sans CJK SC"/>
              </a:rPr>
              <a:t>；髋部 </a:t>
            </a:r>
            <a:r>
              <a:rPr b="1" lang="en-US" sz="1700" spc="-1" strike="noStrike">
                <a:solidFill>
                  <a:srgbClr val="111827"/>
                </a:solidFill>
                <a:latin typeface="Noto Sans CJK SC"/>
              </a:rPr>
              <a:t>4:1 </a:t>
            </a:r>
            <a:r>
              <a:rPr b="1" lang="zh-CN" sz="1700" spc="-1" strike="noStrike">
                <a:solidFill>
                  <a:srgbClr val="111827"/>
                </a:solidFill>
                <a:latin typeface="Noto Sans CJK SC"/>
              </a:rPr>
              <a:t>减速，轮端直驱；</a:t>
            </a:r>
            <a:endParaRPr b="1" lang="en-US" sz="1700" spc="-1" strike="noStrike">
              <a:solidFill>
                <a:srgbClr val="111827"/>
              </a:solidFill>
              <a:latin typeface="Noto Sans CJK SC"/>
            </a:endParaRPr>
          </a:p>
          <a:p>
            <a:r>
              <a:rPr b="1" lang="zh-CN" sz="1700" spc="-1" strike="noStrike">
                <a:solidFill>
                  <a:srgbClr val="111827"/>
                </a:solidFill>
                <a:latin typeface="Noto Sans CJK SC"/>
              </a:rPr>
              <a:t>整机质量预算 </a:t>
            </a:r>
            <a:r>
              <a:rPr b="1" lang="en-US" sz="1700" spc="-1" strike="noStrike">
                <a:solidFill>
                  <a:srgbClr val="111827"/>
                </a:solidFill>
                <a:latin typeface="Noto Sans CJK SC"/>
              </a:rPr>
              <a:t>4.274 kg</a:t>
            </a:r>
            <a:r>
              <a:rPr b="1" lang="zh-CN" sz="1700" spc="-1" strike="noStrike">
                <a:solidFill>
                  <a:srgbClr val="111827"/>
                </a:solidFill>
                <a:latin typeface="Noto Sans CJK SC"/>
              </a:rPr>
              <a:t>。</a:t>
            </a:r>
            <a:endParaRPr b="1" lang="en-US" sz="1700" spc="-1" strike="noStrike">
              <a:solidFill>
                <a:srgbClr val="111827"/>
              </a:solidFill>
              <a:latin typeface="Noto Sans CJK SC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6516000" y="4932000"/>
            <a:ext cx="5220000" cy="108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600" spc="-1" strike="noStrike">
                <a:solidFill>
                  <a:srgbClr val="556274"/>
                </a:solidFill>
                <a:latin typeface="Noto Sans CJK SC"/>
              </a:rPr>
              <a:t>边界：厂家参数并非实测；硬件模式急停距离 </a:t>
            </a:r>
            <a:r>
              <a:rPr b="0" lang="en-US" sz="1600" spc="-1" strike="noStrike">
                <a:solidFill>
                  <a:srgbClr val="556274"/>
                </a:solidFill>
                <a:latin typeface="Noto Sans CJK SC"/>
              </a:rPr>
              <a:t>0.337 m</a:t>
            </a:r>
            <a:r>
              <a:rPr b="0" lang="zh-CN" sz="1600" spc="-1" strike="noStrike">
                <a:solidFill>
                  <a:srgbClr val="556274"/>
                </a:solidFill>
                <a:latin typeface="Noto Sans CJK SC"/>
              </a:rPr>
              <a:t>，</a:t>
            </a:r>
            <a:endParaRPr b="0" lang="en-US" sz="1600" spc="-1" strike="noStrike">
              <a:solidFill>
                <a:srgbClr val="556274"/>
              </a:solidFill>
              <a:latin typeface="Noto Sans CJK SC"/>
            </a:endParaRPr>
          </a:p>
          <a:p>
            <a:r>
              <a:rPr b="0" lang="zh-CN" sz="1600" spc="-1" strike="noStrike">
                <a:solidFill>
                  <a:srgbClr val="556274"/>
                </a:solidFill>
                <a:latin typeface="Noto Sans CJK SC"/>
              </a:rPr>
              <a:t>但俯仰 </a:t>
            </a:r>
            <a:r>
              <a:rPr b="0" lang="en-US" sz="1600" spc="-1" strike="noStrike">
                <a:solidFill>
                  <a:srgbClr val="556274"/>
                </a:solidFill>
                <a:latin typeface="Noto Sans CJK SC"/>
              </a:rPr>
              <a:t>11.03°</a:t>
            </a:r>
            <a:r>
              <a:rPr b="0" lang="zh-CN" sz="1600" spc="-1" strike="noStrike">
                <a:solidFill>
                  <a:srgbClr val="556274"/>
                </a:solidFill>
                <a:latin typeface="Noto Sans CJK SC"/>
              </a:rPr>
              <a:t>，仍未通过 </a:t>
            </a:r>
            <a:r>
              <a:rPr b="0" lang="en-US" sz="1600" spc="-1" strike="noStrike">
                <a:solidFill>
                  <a:srgbClr val="556274"/>
                </a:solidFill>
                <a:latin typeface="Noto Sans CJK SC"/>
              </a:rPr>
              <a:t>5°</a:t>
            </a:r>
            <a:r>
              <a:rPr b="0" lang="zh-CN" sz="1600" spc="-1" strike="noStrike">
                <a:solidFill>
                  <a:srgbClr val="556274"/>
                </a:solidFill>
                <a:latin typeface="Noto Sans CJK SC"/>
              </a:rPr>
              <a:t>姿态门。</a:t>
            </a:r>
            <a:endParaRPr b="0" lang="en-US" sz="1600" spc="-1" strike="noStrike">
              <a:solidFill>
                <a:srgbClr val="556274"/>
              </a:solidFill>
              <a:latin typeface="Noto Sans CJK SC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403200" y="6490800"/>
            <a:ext cx="558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100" spc="-1" strike="noStrike">
                <a:solidFill>
                  <a:srgbClr val="556274"/>
                </a:solidFill>
                <a:latin typeface="Noto Sans CJK SC"/>
              </a:rPr>
              <a:t>厂家标称 </a:t>
            </a:r>
            <a:r>
              <a:rPr b="0" lang="en-US" sz="1100" spc="-1" strike="noStrike">
                <a:solidFill>
                  <a:srgbClr val="556274"/>
                </a:solidFill>
                <a:latin typeface="Noto Sans CJK SC"/>
              </a:rPr>
              <a:t>+ </a:t>
            </a:r>
            <a:r>
              <a:rPr b="0" lang="zh-CN" sz="1100" spc="-1" strike="noStrike">
                <a:solidFill>
                  <a:srgbClr val="556274"/>
                </a:solidFill>
                <a:latin typeface="Noto Sans CJK SC"/>
              </a:rPr>
              <a:t>名义核算，非样机实测</a:t>
            </a:r>
            <a:endParaRPr b="0" lang="en-US" sz="1100" spc="-1" strike="noStrike">
              <a:solidFill>
                <a:srgbClr val="556274"/>
              </a:solidFill>
              <a:latin typeface="Noto Sans CJK SC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1448000" y="6490800"/>
            <a:ext cx="324000" cy="29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en-US" sz="1100" spc="-1" strike="noStrike">
                <a:solidFill>
                  <a:srgbClr val="556274"/>
                </a:solidFill>
                <a:latin typeface="Noto Sans CJK SC"/>
              </a:rPr>
              <a:t>5</a:t>
            </a:r>
            <a:endParaRPr b="0" lang="en-US" sz="1100" spc="-1" strike="noStrike">
              <a:solidFill>
                <a:srgbClr val="556274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2026-09-02T22:54:10Z</dcterms:modified>
  <cp:revision>1</cp:revision>
  <dc:subject/>
  <dc:title/>
</cp:coreProperties>
</file>